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21.png"/><Relationship Id="rId22" Type="http://schemas.openxmlformats.org/officeDocument/2006/relationships/image" Target="../media/image-4-2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image" Target="../media/image-4-25.png"/><Relationship Id="rId26" Type="http://schemas.openxmlformats.org/officeDocument/2006/relationships/image" Target="../media/image-4-26.svg"/><Relationship Id="rId27" Type="http://schemas.openxmlformats.org/officeDocument/2006/relationships/image" Target="../media/image-4-27.png"/><Relationship Id="rId28" Type="http://schemas.openxmlformats.org/officeDocument/2006/relationships/image" Target="../media/image-4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image" Target="../media/image-5-21.png"/><Relationship Id="rId22" Type="http://schemas.openxmlformats.org/officeDocument/2006/relationships/image" Target="../media/image-5-22.svg"/><Relationship Id="rId23" Type="http://schemas.openxmlformats.org/officeDocument/2006/relationships/image" Target="../media/image-5-23.png"/><Relationship Id="rId24" Type="http://schemas.openxmlformats.org/officeDocument/2006/relationships/image" Target="../media/image-5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sv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sv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sv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sv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A0F1A">
                  <a:alpha val="97000"/>
                </a:srgbClr>
              </a:gs>
              <a:gs pos="25000">
                <a:srgbClr val="0A0F1A">
                  <a:alpha val="88000"/>
                </a:srgbClr>
              </a:gs>
              <a:gs pos="55000">
                <a:srgbClr val="0A0F1A">
                  <a:alpha val="55000"/>
                </a:srgbClr>
              </a:gs>
              <a:gs pos="80000">
                <a:srgbClr val="0A0F1A">
                  <a:alpha val="30000"/>
                </a:srgbClr>
              </a:gs>
              <a:gs pos="100000">
                <a:srgbClr val="0A0F1A">
                  <a:alpha val="2500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A0F1A">
                  <a:alpha val="75000"/>
                </a:srgbClr>
              </a:gs>
              <a:gs pos="60000">
                <a:srgbClr val="0A0F1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40000">
                <a:srgbClr val="0EA5E9"/>
              </a:gs>
              <a:gs pos="8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0" y="2571750"/>
            <a:ext cx="1571030" cy="2000250"/>
          </a:xfrm>
          <a:prstGeom prst="ellipse">
            <a:avLst/>
          </a:prstGeom>
          <a:gradFill rotWithShape="1">
            <a:gsLst>
              <a:gs pos="0">
                <a:srgbClr val="06B6D4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71500" y="2746177"/>
            <a:ext cx="8743950" cy="973247"/>
          </a:xfrm>
          <a:prstGeom prst="rect">
            <a:avLst/>
          </a:prstGeom>
          <a:noFill/>
          <a:ln/>
          <a:effectLst>
            <a:outerShdw sx="100000" sy="100000" kx="0" ky="0" algn="bl" rotWithShape="0" blurRad="214630" dist="1397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3380" spc="-3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Introduction to</a:t>
            </a:r>
            <a:br/>
            <a:pPr algn="l" indent="0" marL="0">
              <a:lnSpc>
                <a:spcPts val="3650"/>
              </a:lnSpc>
              <a:buNone/>
            </a:pPr>
            <a:r>
              <a:rPr lang="en-US" sz="3380" spc="-3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Edge Computing</a:t>
            </a:r>
            <a:endParaRPr lang="en-US" sz="3380" dirty="0"/>
          </a:p>
        </p:txBody>
      </p:sp>
      <p:sp>
        <p:nvSpPr>
          <p:cNvPr id="8" name="Text 5"/>
          <p:cNvSpPr/>
          <p:nvPr/>
        </p:nvSpPr>
        <p:spPr>
          <a:xfrm>
            <a:off x="571500" y="3816548"/>
            <a:ext cx="685800" cy="35421"/>
          </a:xfrm>
          <a:prstGeom prst="roundRect">
            <a:avLst>
              <a:gd name="adj" fmla="val 60953"/>
            </a:avLst>
          </a:prstGeom>
          <a:gradFill rotWithShape="1">
            <a:gsLst>
              <a:gs pos="0">
                <a:srgbClr val="06B6D4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71500" y="4023420"/>
            <a:ext cx="8743950" cy="516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5"/>
              </a:lnSpc>
              <a:spcBef>
                <a:spcPts val="1350"/>
              </a:spcBef>
              <a:buNone/>
            </a:pPr>
            <a:r>
              <a:rPr lang="en-US" sz="1290" spc="200" kern="0" dirty="0">
                <a:solidFill>
                  <a:srgbClr val="C5CDD8"/>
                </a:solidFill>
                <a:effectLst>
                  <a:glow rad="266700">
                    <a:srgbClr val="000000">
                      <a:alpha val="12000"/>
                    </a:srgb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TECHNOLOGIES, AND THE</a:t>
            </a:r>
            <a:br/>
            <a:pPr algn="l" indent="0" marL="0">
              <a:lnSpc>
                <a:spcPts val="1935"/>
              </a:lnSpc>
              <a:spcBef>
                <a:spcPts val="1350"/>
              </a:spcBef>
              <a:buNone/>
            </a:pPr>
            <a:r>
              <a:rPr lang="en-US" sz="1290" spc="200" kern="0" dirty="0">
                <a:solidFill>
                  <a:srgbClr val="C5CDD8"/>
                </a:solidFill>
                <a:effectLst>
                  <a:glow rad="266700">
                    <a:srgbClr val="000000">
                      <a:alpha val="12000"/>
                    </a:srgb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COMPUTING FRONTIER</a:t>
            </a:r>
            <a:endParaRPr lang="en-US" sz="129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18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050" y="451485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72070"/>
            <a:ext cx="892683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17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14350" y="568226"/>
            <a:ext cx="8683371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10"/>
              </a:lnSpc>
              <a:spcAft>
                <a:spcPts val="340"/>
              </a:spcAft>
              <a:buNone/>
            </a:pPr>
            <a:r>
              <a:rPr lang="en-US" sz="2140" b="1" spc="-3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Edge Computing?</a:t>
            </a:r>
            <a:endParaRPr lang="en-US" sz="2140" dirty="0"/>
          </a:p>
        </p:txBody>
      </p:sp>
      <p:sp>
        <p:nvSpPr>
          <p:cNvPr id="4" name="Text 2"/>
          <p:cNvSpPr/>
          <p:nvPr/>
        </p:nvSpPr>
        <p:spPr>
          <a:xfrm>
            <a:off x="514350" y="1019026"/>
            <a:ext cx="342900" cy="29170"/>
          </a:xfrm>
          <a:prstGeom prst="roundRect">
            <a:avLst>
              <a:gd name="adj" fmla="val 47892"/>
            </a:avLst>
          </a:prstGeom>
          <a:solidFill>
            <a:srgbClr val="06B6D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404938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6B6D4">
              <a:alpha val="10000"/>
            </a:srgbClr>
          </a:solidFill>
          <a:ln w="9525">
            <a:solidFill>
              <a:srgbClr val="06B6D4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6892" y="1496029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4191" y="1418779"/>
            <a:ext cx="7826529" cy="210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07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computing paradigm that processes data near the source of generation — at or close to the network edge</a:t>
            </a:r>
            <a:endParaRPr lang="en-US" sz="1070" dirty="0"/>
          </a:p>
        </p:txBody>
      </p:sp>
      <p:sp>
        <p:nvSpPr>
          <p:cNvPr id="8" name="Text 5"/>
          <p:cNvSpPr/>
          <p:nvPr/>
        </p:nvSpPr>
        <p:spPr>
          <a:xfrm>
            <a:off x="685800" y="2062460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6B6D4">
              <a:alpha val="10000"/>
            </a:srgbClr>
          </a:solidFill>
          <a:ln w="9525">
            <a:solidFill>
              <a:srgbClr val="06B6D4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892" y="2153552"/>
            <a:ext cx="132588" cy="132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4191" y="2076301"/>
            <a:ext cx="6606719" cy="210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07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round-trip latency by eliminating the need to send all data to centralized cloud data centers</a:t>
            </a:r>
            <a:endParaRPr lang="en-US" sz="1070" dirty="0"/>
          </a:p>
        </p:txBody>
      </p:sp>
      <p:sp>
        <p:nvSpPr>
          <p:cNvPr id="11" name="Text 7"/>
          <p:cNvSpPr/>
          <p:nvPr/>
        </p:nvSpPr>
        <p:spPr>
          <a:xfrm>
            <a:off x="685800" y="271998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6B6D4">
              <a:alpha val="10000"/>
            </a:srgbClr>
          </a:solidFill>
          <a:ln w="9525">
            <a:solidFill>
              <a:srgbClr val="06B6D4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6892" y="2811075"/>
            <a:ext cx="132588" cy="132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4191" y="2733824"/>
            <a:ext cx="7942436" cy="210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07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data locally on edge devices, gateways, or regional micro data centers before selectively syncing to the cloud</a:t>
            </a:r>
            <a:endParaRPr lang="en-US" sz="1070" dirty="0"/>
          </a:p>
        </p:txBody>
      </p:sp>
      <p:sp>
        <p:nvSpPr>
          <p:cNvPr id="14" name="Text 9"/>
          <p:cNvSpPr/>
          <p:nvPr/>
        </p:nvSpPr>
        <p:spPr>
          <a:xfrm>
            <a:off x="685800" y="3377505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6B6D4">
              <a:alpha val="10000"/>
            </a:srgbClr>
          </a:solidFill>
          <a:ln w="9525">
            <a:solidFill>
              <a:srgbClr val="06B6D4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6892" y="3468597"/>
            <a:ext cx="132588" cy="1325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4191" y="3391346"/>
            <a:ext cx="7927866" cy="210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07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the explosion of IoT devices — projected 75+ billion connected devices generating zettabytes of data annually</a:t>
            </a:r>
            <a:endParaRPr lang="en-US" sz="1070" dirty="0"/>
          </a:p>
        </p:txBody>
      </p:sp>
      <p:sp>
        <p:nvSpPr>
          <p:cNvPr id="17" name="Text 11"/>
          <p:cNvSpPr/>
          <p:nvPr/>
        </p:nvSpPr>
        <p:spPr>
          <a:xfrm>
            <a:off x="685800" y="4035028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6B6D4">
              <a:alpha val="10000"/>
            </a:srgbClr>
          </a:solidFill>
          <a:ln w="9525">
            <a:solidFill>
              <a:srgbClr val="06B6D4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6892" y="4126120"/>
            <a:ext cx="132588" cy="1325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44191" y="4048869"/>
            <a:ext cx="7626965" cy="210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07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shift: from centralized cloud-first to a distributed compute fabric spanning devices, edge nodes, and cloud tiers</a:t>
            </a:r>
            <a:endParaRPr lang="en-US" sz="1070" dirty="0"/>
          </a:p>
        </p:txBody>
      </p:sp>
      <p:sp>
        <p:nvSpPr>
          <p:cNvPr id="20" name="Text 13"/>
          <p:cNvSpPr/>
          <p:nvPr/>
        </p:nvSpPr>
        <p:spPr>
          <a:xfrm>
            <a:off x="514350" y="4784378"/>
            <a:ext cx="2996357" cy="7590"/>
          </a:xfrm>
          <a:prstGeom prst="rect">
            <a:avLst/>
          </a:prstGeom>
          <a:gradFill rotWithShape="1">
            <a:gsLst>
              <a:gs pos="0">
                <a:srgbClr val="06B6D4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3597027" y="4718745"/>
            <a:ext cx="214477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COMPUTING PARADIGM</a:t>
            </a:r>
            <a:endParaRPr lang="en-US" sz="730" dirty="0"/>
          </a:p>
        </p:txBody>
      </p:sp>
      <p:sp>
        <p:nvSpPr>
          <p:cNvPr id="22" name="Text 15"/>
          <p:cNvSpPr/>
          <p:nvPr/>
        </p:nvSpPr>
        <p:spPr>
          <a:xfrm>
            <a:off x="5633145" y="4784378"/>
            <a:ext cx="2996505" cy="7590"/>
          </a:xfrm>
          <a:prstGeom prst="rect">
            <a:avLst/>
          </a:prstGeom>
          <a:gradFill rotWithShape="1">
            <a:gsLst>
              <a:gs pos="0">
                <a:srgbClr val="06B6D4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514350" y="1333946"/>
            <a:ext cx="21580" cy="456903"/>
          </a:xfrm>
          <a:prstGeom prst="roundRect">
            <a:avLst>
              <a:gd name="adj" fmla="val 64736"/>
            </a:avLst>
          </a:prstGeom>
          <a:solidFill>
            <a:srgbClr val="06B6D4">
              <a:alpha val="5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514350" y="1991469"/>
            <a:ext cx="21580" cy="456903"/>
          </a:xfrm>
          <a:prstGeom prst="roundRect">
            <a:avLst>
              <a:gd name="adj" fmla="val 64736"/>
            </a:avLst>
          </a:prstGeom>
          <a:solidFill>
            <a:srgbClr val="06B6D4">
              <a:alpha val="5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514350" y="2648992"/>
            <a:ext cx="21580" cy="456903"/>
          </a:xfrm>
          <a:prstGeom prst="roundRect">
            <a:avLst>
              <a:gd name="adj" fmla="val 64736"/>
            </a:avLst>
          </a:prstGeom>
          <a:solidFill>
            <a:srgbClr val="06B6D4">
              <a:alpha val="5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514350" y="3306514"/>
            <a:ext cx="21580" cy="456903"/>
          </a:xfrm>
          <a:prstGeom prst="roundRect">
            <a:avLst>
              <a:gd name="adj" fmla="val 64736"/>
            </a:avLst>
          </a:prstGeom>
          <a:solidFill>
            <a:srgbClr val="06B6D4">
              <a:alpha val="5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514350" y="3964037"/>
            <a:ext cx="21580" cy="456903"/>
          </a:xfrm>
          <a:prstGeom prst="roundRect">
            <a:avLst>
              <a:gd name="adj" fmla="val 64736"/>
            </a:avLst>
          </a:prstGeom>
          <a:solidFill>
            <a:srgbClr val="06B6D4">
              <a:alpha val="5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2900"/>
            <a:ext cx="8927973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030" b="1" spc="-3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Edge Computing? — Key Drivers</a:t>
            </a:r>
            <a:endParaRPr lang="en-US" sz="2030" dirty="0"/>
          </a:p>
        </p:txBody>
      </p:sp>
      <p:sp>
        <p:nvSpPr>
          <p:cNvPr id="3" name="Text 1"/>
          <p:cNvSpPr/>
          <p:nvPr/>
        </p:nvSpPr>
        <p:spPr>
          <a:xfrm>
            <a:off x="400050" y="786705"/>
            <a:ext cx="342900" cy="29170"/>
          </a:xfrm>
          <a:prstGeom prst="roundRect">
            <a:avLst>
              <a:gd name="adj" fmla="val 47892"/>
            </a:avLst>
          </a:prstGeom>
          <a:solidFill>
            <a:srgbClr val="06B6D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1044476"/>
            <a:ext cx="2685604" cy="1806327"/>
          </a:xfrm>
          <a:prstGeom prst="roundRect">
            <a:avLst>
              <a:gd name="adj" fmla="val 4781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24509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3235" y="1316831"/>
            <a:ext cx="171450" cy="171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1500" y="1646337"/>
            <a:ext cx="2576974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 Latency</a:t>
            </a:r>
            <a:endParaRPr lang="en-US" sz="960" dirty="0"/>
          </a:p>
        </p:txBody>
      </p:sp>
      <p:sp>
        <p:nvSpPr>
          <p:cNvPr id="8" name="Text 5"/>
          <p:cNvSpPr/>
          <p:nvPr/>
        </p:nvSpPr>
        <p:spPr>
          <a:xfrm>
            <a:off x="571500" y="1878806"/>
            <a:ext cx="2389558" cy="492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applications (autonomous vehicles, robotics, AR/VR) require sub-10ms response times impossible with cloud round-trips</a:t>
            </a:r>
            <a:endParaRPr lang="en-US" sz="820" dirty="0"/>
          </a:p>
        </p:txBody>
      </p:sp>
      <p:sp>
        <p:nvSpPr>
          <p:cNvPr id="9" name="Text 6"/>
          <p:cNvSpPr/>
          <p:nvPr/>
        </p:nvSpPr>
        <p:spPr>
          <a:xfrm>
            <a:off x="3229124" y="1044476"/>
            <a:ext cx="2685604" cy="1806327"/>
          </a:xfrm>
          <a:prstGeom prst="roundRect">
            <a:avLst>
              <a:gd name="adj" fmla="val 4781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400574" y="124509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2309" y="1316831"/>
            <a:ext cx="171450" cy="171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0574" y="1646337"/>
            <a:ext cx="2576974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Optimization</a:t>
            </a:r>
            <a:endParaRPr lang="en-US" sz="960" dirty="0"/>
          </a:p>
        </p:txBody>
      </p:sp>
      <p:sp>
        <p:nvSpPr>
          <p:cNvPr id="13" name="Text 9"/>
          <p:cNvSpPr/>
          <p:nvPr/>
        </p:nvSpPr>
        <p:spPr>
          <a:xfrm>
            <a:off x="3400574" y="1878806"/>
            <a:ext cx="2389558" cy="492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TB of sensor/video data locally, transmit only insights and aggregated metadata upstream to the cloud</a:t>
            </a:r>
            <a:endParaRPr lang="en-US" sz="820" dirty="0"/>
          </a:p>
        </p:txBody>
      </p:sp>
      <p:sp>
        <p:nvSpPr>
          <p:cNvPr id="14" name="Text 10"/>
          <p:cNvSpPr/>
          <p:nvPr/>
        </p:nvSpPr>
        <p:spPr>
          <a:xfrm>
            <a:off x="6058198" y="1044476"/>
            <a:ext cx="2685752" cy="1806327"/>
          </a:xfrm>
          <a:prstGeom prst="roundRect">
            <a:avLst>
              <a:gd name="adj" fmla="val 4781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229648" y="124509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1383" y="1316831"/>
            <a:ext cx="171450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29648" y="1646337"/>
            <a:ext cx="2577138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960" dirty="0"/>
          </a:p>
        </p:txBody>
      </p:sp>
      <p:sp>
        <p:nvSpPr>
          <p:cNvPr id="18" name="Text 13"/>
          <p:cNvSpPr/>
          <p:nvPr/>
        </p:nvSpPr>
        <p:spPr>
          <a:xfrm>
            <a:off x="6229648" y="1878806"/>
            <a:ext cx="2389709" cy="492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HIPAA, and regional regulations require data to remain within jurisdictional boundaries and be processed locally</a:t>
            </a:r>
            <a:endParaRPr lang="en-US" sz="820" dirty="0"/>
          </a:p>
        </p:txBody>
      </p:sp>
      <p:sp>
        <p:nvSpPr>
          <p:cNvPr id="19" name="Text 14"/>
          <p:cNvSpPr/>
          <p:nvPr/>
        </p:nvSpPr>
        <p:spPr>
          <a:xfrm>
            <a:off x="400050" y="2994273"/>
            <a:ext cx="2685604" cy="1806327"/>
          </a:xfrm>
          <a:prstGeom prst="roundRect">
            <a:avLst>
              <a:gd name="adj" fmla="val 4781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571500" y="319489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235" y="3266629"/>
            <a:ext cx="171450" cy="171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" y="3596134"/>
            <a:ext cx="2576974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Resilience</a:t>
            </a:r>
            <a:endParaRPr lang="en-US" sz="960" dirty="0"/>
          </a:p>
        </p:txBody>
      </p:sp>
      <p:sp>
        <p:nvSpPr>
          <p:cNvPr id="23" name="Text 17"/>
          <p:cNvSpPr/>
          <p:nvPr/>
        </p:nvSpPr>
        <p:spPr>
          <a:xfrm>
            <a:off x="571500" y="3828604"/>
            <a:ext cx="2389558" cy="492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nodes operate autonomously during network outages — critical for industrial plants, ships, remote sites</a:t>
            </a:r>
            <a:endParaRPr lang="en-US" sz="820" dirty="0"/>
          </a:p>
        </p:txBody>
      </p:sp>
      <p:sp>
        <p:nvSpPr>
          <p:cNvPr id="24" name="Text 18"/>
          <p:cNvSpPr/>
          <p:nvPr/>
        </p:nvSpPr>
        <p:spPr>
          <a:xfrm>
            <a:off x="3229124" y="2994273"/>
            <a:ext cx="2685604" cy="1806327"/>
          </a:xfrm>
          <a:prstGeom prst="roundRect">
            <a:avLst>
              <a:gd name="adj" fmla="val 4781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3400574" y="319489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72309" y="3266629"/>
            <a:ext cx="171450" cy="1714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00574" y="3596134"/>
            <a:ext cx="2576974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&amp; MEC Convergence</a:t>
            </a:r>
            <a:endParaRPr lang="en-US" sz="960" dirty="0"/>
          </a:p>
        </p:txBody>
      </p:sp>
      <p:sp>
        <p:nvSpPr>
          <p:cNvPr id="28" name="Text 21"/>
          <p:cNvSpPr/>
          <p:nvPr/>
        </p:nvSpPr>
        <p:spPr>
          <a:xfrm>
            <a:off x="3400574" y="3828604"/>
            <a:ext cx="2389558" cy="492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Multi-access Edge Computing enables compute at cellular base stations, unlocking carrier-grade edge infrastructure</a:t>
            </a:r>
            <a:endParaRPr lang="en-US" sz="820" dirty="0"/>
          </a:p>
        </p:txBody>
      </p:sp>
      <p:sp>
        <p:nvSpPr>
          <p:cNvPr id="29" name="Text 22"/>
          <p:cNvSpPr/>
          <p:nvPr/>
        </p:nvSpPr>
        <p:spPr>
          <a:xfrm>
            <a:off x="6058198" y="2994273"/>
            <a:ext cx="2685752" cy="1806327"/>
          </a:xfrm>
          <a:prstGeom prst="roundRect">
            <a:avLst>
              <a:gd name="adj" fmla="val 4781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6229648" y="319489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01383" y="3266629"/>
            <a:ext cx="171450" cy="17145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29648" y="3596134"/>
            <a:ext cx="2577138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at the Source</a:t>
            </a:r>
            <a:endParaRPr lang="en-US" sz="960" dirty="0"/>
          </a:p>
        </p:txBody>
      </p:sp>
      <p:sp>
        <p:nvSpPr>
          <p:cNvPr id="33" name="Text 25"/>
          <p:cNvSpPr/>
          <p:nvPr/>
        </p:nvSpPr>
        <p:spPr>
          <a:xfrm>
            <a:off x="6229648" y="3828604"/>
            <a:ext cx="2389709" cy="492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inference models (YOLO, MobileNet, TensorRT) directly on edge GPUs/TPUs for real-time decision-making</a:t>
            </a:r>
            <a:endParaRPr lang="en-US" sz="820" dirty="0"/>
          </a:p>
        </p:txBody>
      </p:sp>
      <p:sp>
        <p:nvSpPr>
          <p:cNvPr id="34" name="Text 26"/>
          <p:cNvSpPr/>
          <p:nvPr/>
        </p:nvSpPr>
        <p:spPr>
          <a:xfrm>
            <a:off x="400050" y="1044476"/>
            <a:ext cx="2685602" cy="21580"/>
          </a:xfrm>
          <a:custGeom>
            <a:avLst/>
            <a:gdLst/>
            <a:ahLst/>
            <a:cxnLst/>
            <a:rect l="l" t="t" r="r" b="b"/>
            <a:pathLst>
              <a:path w="2685602" h="21580">
                <a:moveTo>
                  <a:pt x="86360" y="0"/>
                </a:moveTo>
                <a:lnTo>
                  <a:pt x="2599242" y="0"/>
                </a:lnTo>
                <a:lnTo>
                  <a:pt x="2620658" y="2698"/>
                </a:lnTo>
                <a:lnTo>
                  <a:pt x="2629288" y="5395"/>
                </a:lnTo>
                <a:lnTo>
                  <a:pt x="2635742" y="8093"/>
                </a:lnTo>
                <a:lnTo>
                  <a:pt x="2641042" y="10790"/>
                </a:lnTo>
                <a:lnTo>
                  <a:pt x="2645585" y="13488"/>
                </a:lnTo>
                <a:lnTo>
                  <a:pt x="2649576" y="16185"/>
                </a:lnTo>
                <a:lnTo>
                  <a:pt x="2653139" y="18883"/>
                </a:lnTo>
                <a:lnTo>
                  <a:pt x="265635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06B6D4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3229124" y="1044476"/>
            <a:ext cx="2685602" cy="21580"/>
          </a:xfrm>
          <a:custGeom>
            <a:avLst/>
            <a:gdLst/>
            <a:ahLst/>
            <a:cxnLst/>
            <a:rect l="l" t="t" r="r" b="b"/>
            <a:pathLst>
              <a:path w="2685602" h="21580">
                <a:moveTo>
                  <a:pt x="86360" y="0"/>
                </a:moveTo>
                <a:lnTo>
                  <a:pt x="2599242" y="0"/>
                </a:lnTo>
                <a:lnTo>
                  <a:pt x="2620658" y="2698"/>
                </a:lnTo>
                <a:lnTo>
                  <a:pt x="2629288" y="5395"/>
                </a:lnTo>
                <a:lnTo>
                  <a:pt x="2635742" y="8093"/>
                </a:lnTo>
                <a:lnTo>
                  <a:pt x="2641042" y="10790"/>
                </a:lnTo>
                <a:lnTo>
                  <a:pt x="2645585" y="13488"/>
                </a:lnTo>
                <a:lnTo>
                  <a:pt x="2649576" y="16185"/>
                </a:lnTo>
                <a:lnTo>
                  <a:pt x="2653139" y="18883"/>
                </a:lnTo>
                <a:lnTo>
                  <a:pt x="265635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06B6D4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6058198" y="1044476"/>
            <a:ext cx="2685755" cy="21580"/>
          </a:xfrm>
          <a:custGeom>
            <a:avLst/>
            <a:gdLst/>
            <a:ahLst/>
            <a:cxnLst/>
            <a:rect l="l" t="t" r="r" b="b"/>
            <a:pathLst>
              <a:path w="2685755" h="21580">
                <a:moveTo>
                  <a:pt x="86360" y="0"/>
                </a:moveTo>
                <a:lnTo>
                  <a:pt x="2599395" y="0"/>
                </a:lnTo>
                <a:lnTo>
                  <a:pt x="2620810" y="2698"/>
                </a:lnTo>
                <a:lnTo>
                  <a:pt x="2629440" y="5395"/>
                </a:lnTo>
                <a:lnTo>
                  <a:pt x="2635895" y="8093"/>
                </a:lnTo>
                <a:lnTo>
                  <a:pt x="2641195" y="10790"/>
                </a:lnTo>
                <a:lnTo>
                  <a:pt x="2645737" y="13488"/>
                </a:lnTo>
                <a:lnTo>
                  <a:pt x="2649729" y="16185"/>
                </a:lnTo>
                <a:lnTo>
                  <a:pt x="2653291" y="18883"/>
                </a:lnTo>
                <a:lnTo>
                  <a:pt x="265650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06B6D4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400050" y="2994273"/>
            <a:ext cx="2685602" cy="21580"/>
          </a:xfrm>
          <a:custGeom>
            <a:avLst/>
            <a:gdLst/>
            <a:ahLst/>
            <a:cxnLst/>
            <a:rect l="l" t="t" r="r" b="b"/>
            <a:pathLst>
              <a:path w="2685602" h="21580">
                <a:moveTo>
                  <a:pt x="86360" y="0"/>
                </a:moveTo>
                <a:lnTo>
                  <a:pt x="2599242" y="0"/>
                </a:lnTo>
                <a:lnTo>
                  <a:pt x="2620658" y="2698"/>
                </a:lnTo>
                <a:lnTo>
                  <a:pt x="2629288" y="5395"/>
                </a:lnTo>
                <a:lnTo>
                  <a:pt x="2635742" y="8093"/>
                </a:lnTo>
                <a:lnTo>
                  <a:pt x="2641042" y="10790"/>
                </a:lnTo>
                <a:lnTo>
                  <a:pt x="2645585" y="13488"/>
                </a:lnTo>
                <a:lnTo>
                  <a:pt x="2649576" y="16185"/>
                </a:lnTo>
                <a:lnTo>
                  <a:pt x="2653139" y="18883"/>
                </a:lnTo>
                <a:lnTo>
                  <a:pt x="265635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06B6D4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3229124" y="2994273"/>
            <a:ext cx="2685602" cy="21580"/>
          </a:xfrm>
          <a:custGeom>
            <a:avLst/>
            <a:gdLst/>
            <a:ahLst/>
            <a:cxnLst/>
            <a:rect l="l" t="t" r="r" b="b"/>
            <a:pathLst>
              <a:path w="2685602" h="21580">
                <a:moveTo>
                  <a:pt x="86360" y="0"/>
                </a:moveTo>
                <a:lnTo>
                  <a:pt x="2599242" y="0"/>
                </a:lnTo>
                <a:lnTo>
                  <a:pt x="2620658" y="2698"/>
                </a:lnTo>
                <a:lnTo>
                  <a:pt x="2629288" y="5395"/>
                </a:lnTo>
                <a:lnTo>
                  <a:pt x="2635742" y="8093"/>
                </a:lnTo>
                <a:lnTo>
                  <a:pt x="2641042" y="10790"/>
                </a:lnTo>
                <a:lnTo>
                  <a:pt x="2645585" y="13488"/>
                </a:lnTo>
                <a:lnTo>
                  <a:pt x="2649576" y="16185"/>
                </a:lnTo>
                <a:lnTo>
                  <a:pt x="2653139" y="18883"/>
                </a:lnTo>
                <a:lnTo>
                  <a:pt x="265635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06B6D4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6058198" y="2994273"/>
            <a:ext cx="2685755" cy="21580"/>
          </a:xfrm>
          <a:custGeom>
            <a:avLst/>
            <a:gdLst/>
            <a:ahLst/>
            <a:cxnLst/>
            <a:rect l="l" t="t" r="r" b="b"/>
            <a:pathLst>
              <a:path w="2685755" h="21580">
                <a:moveTo>
                  <a:pt x="86360" y="0"/>
                </a:moveTo>
                <a:lnTo>
                  <a:pt x="2599395" y="0"/>
                </a:lnTo>
                <a:lnTo>
                  <a:pt x="2620810" y="2698"/>
                </a:lnTo>
                <a:lnTo>
                  <a:pt x="2629440" y="5395"/>
                </a:lnTo>
                <a:lnTo>
                  <a:pt x="2635895" y="8093"/>
                </a:lnTo>
                <a:lnTo>
                  <a:pt x="2641195" y="10790"/>
                </a:lnTo>
                <a:lnTo>
                  <a:pt x="2645737" y="13488"/>
                </a:lnTo>
                <a:lnTo>
                  <a:pt x="2649729" y="16185"/>
                </a:lnTo>
                <a:lnTo>
                  <a:pt x="2653291" y="18883"/>
                </a:lnTo>
                <a:lnTo>
                  <a:pt x="265650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06B6D4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2900"/>
            <a:ext cx="8927973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45"/>
              </a:lnSpc>
              <a:spcAft>
                <a:spcPts val="1580"/>
              </a:spcAft>
              <a:buNone/>
            </a:pPr>
            <a:r>
              <a:rPr lang="en-US" sz="2030" b="1" spc="-2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Edge vs. Cloud Computing</a:t>
            </a:r>
            <a:endParaRPr lang="en-US" sz="2030" dirty="0"/>
          </a:p>
        </p:txBody>
      </p:sp>
      <p:sp>
        <p:nvSpPr>
          <p:cNvPr id="3" name="Text 1"/>
          <p:cNvSpPr/>
          <p:nvPr/>
        </p:nvSpPr>
        <p:spPr>
          <a:xfrm>
            <a:off x="400050" y="930176"/>
            <a:ext cx="8343900" cy="3474541"/>
          </a:xfrm>
          <a:prstGeom prst="roundRect">
            <a:avLst>
              <a:gd name="adj" fmla="val 2486"/>
            </a:avLst>
          </a:prstGeom>
          <a:solidFill>
            <a:srgbClr val="111827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9575" y="939701"/>
            <a:ext cx="4245674" cy="392906"/>
          </a:xfrm>
          <a:prstGeom prst="rect">
            <a:avLst/>
          </a:prstGeom>
          <a:noFill/>
          <a:ln/>
        </p:spPr>
        <p:txBody>
          <a:bodyPr wrap="none" lIns="322233" tIns="100330" rIns="143510" bIns="100330" rtlCol="0" anchor="ctr"/>
          <a:lstStyle/>
          <a:p>
            <a:pPr algn="l" indent="0" marL="0">
              <a:buNone/>
            </a:pPr>
            <a:r>
              <a:rPr lang="en-US" sz="960" b="1" spc="3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4562475" y="939701"/>
            <a:ext cx="9525" cy="392906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553" y="1065023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0" y="939701"/>
            <a:ext cx="4245674" cy="392906"/>
          </a:xfrm>
          <a:prstGeom prst="rect">
            <a:avLst/>
          </a:prstGeom>
          <a:noFill/>
          <a:ln/>
        </p:spPr>
        <p:txBody>
          <a:bodyPr wrap="none" lIns="322233" tIns="100330" rIns="143510" bIns="100330" rtlCol="0" anchor="ctr"/>
          <a:lstStyle/>
          <a:p>
            <a:pPr algn="l" indent="0" marL="0">
              <a:buNone/>
            </a:pPr>
            <a:r>
              <a:rPr lang="en-US" sz="960" b="1" spc="3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960" dirty="0"/>
          </a:p>
        </p:txBody>
      </p:sp>
      <p:sp>
        <p:nvSpPr>
          <p:cNvPr id="8" name="Text 5"/>
          <p:cNvSpPr/>
          <p:nvPr/>
        </p:nvSpPr>
        <p:spPr>
          <a:xfrm>
            <a:off x="4572000" y="1323082"/>
            <a:ext cx="4162425" cy="9525"/>
          </a:xfrm>
          <a:prstGeom prst="rect">
            <a:avLst/>
          </a:prstGeom>
          <a:solidFill>
            <a:srgbClr val="3B82F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2978" y="1065023"/>
            <a:ext cx="132588" cy="132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9575" y="1805880"/>
            <a:ext cx="832485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562475" y="1332607"/>
            <a:ext cx="9525" cy="473273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53045" y="1411337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7061" y="1445353"/>
            <a:ext cx="132588" cy="132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9986" y="1418927"/>
            <a:ext cx="1849934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30" b="1" spc="7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730" dirty="0"/>
          </a:p>
        </p:txBody>
      </p:sp>
      <p:sp>
        <p:nvSpPr>
          <p:cNvPr id="15" name="Text 10"/>
          <p:cNvSpPr/>
          <p:nvPr/>
        </p:nvSpPr>
        <p:spPr>
          <a:xfrm>
            <a:off x="839986" y="1567160"/>
            <a:ext cx="1849934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to low-millisecond</a:t>
            </a:r>
            <a:endParaRPr lang="en-US" sz="870" dirty="0"/>
          </a:p>
        </p:txBody>
      </p:sp>
      <p:sp>
        <p:nvSpPr>
          <p:cNvPr id="16" name="Text 11"/>
          <p:cNvSpPr/>
          <p:nvPr/>
        </p:nvSpPr>
        <p:spPr>
          <a:xfrm>
            <a:off x="4715470" y="1411337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9486" y="1445353"/>
            <a:ext cx="132588" cy="1325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002411" y="1418927"/>
            <a:ext cx="1779702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30" b="1" spc="7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730" dirty="0"/>
          </a:p>
        </p:txBody>
      </p:sp>
      <p:sp>
        <p:nvSpPr>
          <p:cNvPr id="19" name="Text 13"/>
          <p:cNvSpPr/>
          <p:nvPr/>
        </p:nvSpPr>
        <p:spPr>
          <a:xfrm>
            <a:off x="5002411" y="1567160"/>
            <a:ext cx="177970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50–200ms+ depending on region</a:t>
            </a:r>
            <a:endParaRPr lang="en-US" sz="870" dirty="0"/>
          </a:p>
        </p:txBody>
      </p:sp>
      <p:sp>
        <p:nvSpPr>
          <p:cNvPr id="20" name="Text 14"/>
          <p:cNvSpPr/>
          <p:nvPr/>
        </p:nvSpPr>
        <p:spPr>
          <a:xfrm>
            <a:off x="409575" y="2288679"/>
            <a:ext cx="832485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4562475" y="1815405"/>
            <a:ext cx="9525" cy="473273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553045" y="1894136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7061" y="1928152"/>
            <a:ext cx="132588" cy="1325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9986" y="1901726"/>
            <a:ext cx="2079784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30" b="1" spc="7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730" dirty="0"/>
          </a:p>
        </p:txBody>
      </p:sp>
      <p:sp>
        <p:nvSpPr>
          <p:cNvPr id="25" name="Text 18"/>
          <p:cNvSpPr/>
          <p:nvPr/>
        </p:nvSpPr>
        <p:spPr>
          <a:xfrm>
            <a:off x="839986" y="2049959"/>
            <a:ext cx="2079784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— filter, aggregate, act at source</a:t>
            </a:r>
            <a:endParaRPr lang="en-US" sz="870" dirty="0"/>
          </a:p>
        </p:txBody>
      </p:sp>
      <p:sp>
        <p:nvSpPr>
          <p:cNvPr id="26" name="Text 19"/>
          <p:cNvSpPr/>
          <p:nvPr/>
        </p:nvSpPr>
        <p:spPr>
          <a:xfrm>
            <a:off x="4715470" y="1894136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49486" y="1928152"/>
            <a:ext cx="132588" cy="13258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002411" y="1901726"/>
            <a:ext cx="2750180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30" b="1" spc="7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730" dirty="0"/>
          </a:p>
        </p:txBody>
      </p:sp>
      <p:sp>
        <p:nvSpPr>
          <p:cNvPr id="29" name="Text 21"/>
          <p:cNvSpPr/>
          <p:nvPr/>
        </p:nvSpPr>
        <p:spPr>
          <a:xfrm>
            <a:off x="5002411" y="2049959"/>
            <a:ext cx="275018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— full analytics, ML training, batch jobs</a:t>
            </a:r>
            <a:endParaRPr lang="en-US" sz="870" dirty="0"/>
          </a:p>
        </p:txBody>
      </p:sp>
      <p:sp>
        <p:nvSpPr>
          <p:cNvPr id="30" name="Text 22"/>
          <p:cNvSpPr/>
          <p:nvPr/>
        </p:nvSpPr>
        <p:spPr>
          <a:xfrm>
            <a:off x="409575" y="2771477"/>
            <a:ext cx="832485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4562475" y="2298204"/>
            <a:ext cx="9525" cy="473273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553045" y="2376934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7061" y="2410950"/>
            <a:ext cx="132588" cy="13258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39986" y="2384524"/>
            <a:ext cx="3619321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30" b="1" spc="7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730" dirty="0"/>
          </a:p>
        </p:txBody>
      </p:sp>
      <p:sp>
        <p:nvSpPr>
          <p:cNvPr id="35" name="Text 26"/>
          <p:cNvSpPr/>
          <p:nvPr/>
        </p:nvSpPr>
        <p:spPr>
          <a:xfrm>
            <a:off x="839986" y="2532757"/>
            <a:ext cx="361932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across distributed nodes, resource-constrained per node</a:t>
            </a:r>
            <a:endParaRPr lang="en-US" sz="870" dirty="0"/>
          </a:p>
        </p:txBody>
      </p:sp>
      <p:sp>
        <p:nvSpPr>
          <p:cNvPr id="36" name="Text 27"/>
          <p:cNvSpPr/>
          <p:nvPr/>
        </p:nvSpPr>
        <p:spPr>
          <a:xfrm>
            <a:off x="4715470" y="2376934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49486" y="2410950"/>
            <a:ext cx="132588" cy="13258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002411" y="2384524"/>
            <a:ext cx="2442076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30" b="1" spc="7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730" dirty="0"/>
          </a:p>
        </p:txBody>
      </p:sp>
      <p:sp>
        <p:nvSpPr>
          <p:cNvPr id="39" name="Text 29"/>
          <p:cNvSpPr/>
          <p:nvPr/>
        </p:nvSpPr>
        <p:spPr>
          <a:xfrm>
            <a:off x="5002411" y="2532757"/>
            <a:ext cx="2442076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Virtually infinite vertical and horizontal scaling</a:t>
            </a:r>
            <a:endParaRPr lang="en-US" sz="870" dirty="0"/>
          </a:p>
        </p:txBody>
      </p:sp>
      <p:sp>
        <p:nvSpPr>
          <p:cNvPr id="40" name="Text 30"/>
          <p:cNvSpPr/>
          <p:nvPr/>
        </p:nvSpPr>
        <p:spPr>
          <a:xfrm>
            <a:off x="409575" y="3254276"/>
            <a:ext cx="832485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1"/>
          <p:cNvSpPr/>
          <p:nvPr/>
        </p:nvSpPr>
        <p:spPr>
          <a:xfrm>
            <a:off x="4562475" y="2781002"/>
            <a:ext cx="9525" cy="473273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2"/>
          <p:cNvSpPr/>
          <p:nvPr/>
        </p:nvSpPr>
        <p:spPr>
          <a:xfrm>
            <a:off x="553045" y="2859732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7061" y="2893749"/>
            <a:ext cx="132588" cy="132588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839986" y="2867323"/>
            <a:ext cx="2320439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30" b="1" spc="7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730" dirty="0"/>
          </a:p>
        </p:txBody>
      </p:sp>
      <p:sp>
        <p:nvSpPr>
          <p:cNvPr id="45" name="Text 34"/>
          <p:cNvSpPr/>
          <p:nvPr/>
        </p:nvSpPr>
        <p:spPr>
          <a:xfrm>
            <a:off x="839986" y="3015555"/>
            <a:ext cx="232043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offline or on intermittent networks</a:t>
            </a:r>
            <a:endParaRPr lang="en-US" sz="870" dirty="0"/>
          </a:p>
        </p:txBody>
      </p:sp>
      <p:sp>
        <p:nvSpPr>
          <p:cNvPr id="46" name="Text 35"/>
          <p:cNvSpPr/>
          <p:nvPr/>
        </p:nvSpPr>
        <p:spPr>
          <a:xfrm>
            <a:off x="4715470" y="2859732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749486" y="2893749"/>
            <a:ext cx="132588" cy="132588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5002411" y="2867323"/>
            <a:ext cx="2795692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30" b="1" spc="7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730" dirty="0"/>
          </a:p>
        </p:txBody>
      </p:sp>
      <p:sp>
        <p:nvSpPr>
          <p:cNvPr id="49" name="Text 37"/>
          <p:cNvSpPr/>
          <p:nvPr/>
        </p:nvSpPr>
        <p:spPr>
          <a:xfrm>
            <a:off x="5002411" y="3015555"/>
            <a:ext cx="279569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stable, high-bandwidth internet connection</a:t>
            </a:r>
            <a:endParaRPr lang="en-US" sz="870" dirty="0"/>
          </a:p>
        </p:txBody>
      </p:sp>
      <p:sp>
        <p:nvSpPr>
          <p:cNvPr id="50" name="Text 38"/>
          <p:cNvSpPr/>
          <p:nvPr/>
        </p:nvSpPr>
        <p:spPr>
          <a:xfrm>
            <a:off x="409575" y="3737074"/>
            <a:ext cx="832485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39"/>
          <p:cNvSpPr/>
          <p:nvPr/>
        </p:nvSpPr>
        <p:spPr>
          <a:xfrm>
            <a:off x="4562475" y="3263801"/>
            <a:ext cx="9525" cy="473273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0"/>
          <p:cNvSpPr/>
          <p:nvPr/>
        </p:nvSpPr>
        <p:spPr>
          <a:xfrm>
            <a:off x="553045" y="3342531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87061" y="3376547"/>
            <a:ext cx="132588" cy="132588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839986" y="3350121"/>
            <a:ext cx="2670453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30" b="1" spc="7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730" dirty="0"/>
          </a:p>
        </p:txBody>
      </p:sp>
      <p:sp>
        <p:nvSpPr>
          <p:cNvPr id="55" name="Text 42"/>
          <p:cNvSpPr/>
          <p:nvPr/>
        </p:nvSpPr>
        <p:spPr>
          <a:xfrm>
            <a:off x="839986" y="3498354"/>
            <a:ext cx="2670453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hardware CapEx + lower bandwidth costs</a:t>
            </a:r>
            <a:endParaRPr lang="en-US" sz="870" dirty="0"/>
          </a:p>
        </p:txBody>
      </p:sp>
      <p:sp>
        <p:nvSpPr>
          <p:cNvPr id="56" name="Text 43"/>
          <p:cNvSpPr/>
          <p:nvPr/>
        </p:nvSpPr>
        <p:spPr>
          <a:xfrm>
            <a:off x="4715470" y="3342531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7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749486" y="3376547"/>
            <a:ext cx="132588" cy="132588"/>
          </a:xfrm>
          <a:prstGeom prst="rect">
            <a:avLst/>
          </a:prstGeom>
        </p:spPr>
      </p:pic>
      <p:sp>
        <p:nvSpPr>
          <p:cNvPr id="58" name="Text 44"/>
          <p:cNvSpPr/>
          <p:nvPr/>
        </p:nvSpPr>
        <p:spPr>
          <a:xfrm>
            <a:off x="5002411" y="3350121"/>
            <a:ext cx="2464504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30" b="1" spc="7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730" dirty="0"/>
          </a:p>
        </p:txBody>
      </p:sp>
      <p:sp>
        <p:nvSpPr>
          <p:cNvPr id="59" name="Text 45"/>
          <p:cNvSpPr/>
          <p:nvPr/>
        </p:nvSpPr>
        <p:spPr>
          <a:xfrm>
            <a:off x="5002411" y="3498354"/>
            <a:ext cx="2464504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pay-as-you-go, egress fees accumulate</a:t>
            </a:r>
            <a:endParaRPr lang="en-US" sz="870" dirty="0"/>
          </a:p>
        </p:txBody>
      </p:sp>
      <p:sp>
        <p:nvSpPr>
          <p:cNvPr id="60" name="Text 46"/>
          <p:cNvSpPr/>
          <p:nvPr/>
        </p:nvSpPr>
        <p:spPr>
          <a:xfrm>
            <a:off x="4562475" y="3746599"/>
            <a:ext cx="9525" cy="473273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47"/>
          <p:cNvSpPr/>
          <p:nvPr/>
        </p:nvSpPr>
        <p:spPr>
          <a:xfrm>
            <a:off x="553045" y="3825329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2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87061" y="3859345"/>
            <a:ext cx="132588" cy="132588"/>
          </a:xfrm>
          <a:prstGeom prst="rect">
            <a:avLst/>
          </a:prstGeom>
        </p:spPr>
      </p:pic>
      <p:sp>
        <p:nvSpPr>
          <p:cNvPr id="63" name="Text 48"/>
          <p:cNvSpPr/>
          <p:nvPr/>
        </p:nvSpPr>
        <p:spPr>
          <a:xfrm>
            <a:off x="839986" y="3832920"/>
            <a:ext cx="3476893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30" b="1" spc="7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730" dirty="0"/>
          </a:p>
        </p:txBody>
      </p:sp>
      <p:sp>
        <p:nvSpPr>
          <p:cNvPr id="64" name="Text 49"/>
          <p:cNvSpPr/>
          <p:nvPr/>
        </p:nvSpPr>
        <p:spPr>
          <a:xfrm>
            <a:off x="839986" y="3981152"/>
            <a:ext cx="3476893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IoT, autonomous systems, privacy-sensitive workloads</a:t>
            </a:r>
            <a:endParaRPr lang="en-US" sz="870" dirty="0"/>
          </a:p>
        </p:txBody>
      </p:sp>
      <p:sp>
        <p:nvSpPr>
          <p:cNvPr id="65" name="Text 50"/>
          <p:cNvSpPr/>
          <p:nvPr/>
        </p:nvSpPr>
        <p:spPr>
          <a:xfrm>
            <a:off x="4715470" y="3825329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6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749486" y="3859345"/>
            <a:ext cx="132588" cy="132588"/>
          </a:xfrm>
          <a:prstGeom prst="rect">
            <a:avLst/>
          </a:prstGeom>
        </p:spPr>
      </p:pic>
      <p:sp>
        <p:nvSpPr>
          <p:cNvPr id="67" name="Text 51"/>
          <p:cNvSpPr/>
          <p:nvPr/>
        </p:nvSpPr>
        <p:spPr>
          <a:xfrm>
            <a:off x="5002411" y="3832920"/>
            <a:ext cx="2973154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30" b="1" spc="7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730" dirty="0"/>
          </a:p>
        </p:txBody>
      </p:sp>
      <p:sp>
        <p:nvSpPr>
          <p:cNvPr id="68" name="Text 52"/>
          <p:cNvSpPr/>
          <p:nvPr/>
        </p:nvSpPr>
        <p:spPr>
          <a:xfrm>
            <a:off x="5002411" y="3981152"/>
            <a:ext cx="2973154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analytics, ML training, SaaS, elastic workloads</a:t>
            </a:r>
            <a:endParaRPr lang="en-US" sz="870" dirty="0"/>
          </a:p>
        </p:txBody>
      </p:sp>
      <p:sp>
        <p:nvSpPr>
          <p:cNvPr id="69" name="Text 53"/>
          <p:cNvSpPr/>
          <p:nvPr/>
        </p:nvSpPr>
        <p:spPr>
          <a:xfrm>
            <a:off x="316611" y="4548188"/>
            <a:ext cx="8510778" cy="337542"/>
          </a:xfrm>
          <a:prstGeom prst="roundRect">
            <a:avLst>
              <a:gd name="adj" fmla="val 16931"/>
            </a:avLst>
          </a:prstGeom>
          <a:gradFill rotWithShape="1">
            <a:gsLst>
              <a:gs pos="0">
                <a:srgbClr val="06B6D4">
                  <a:alpha val="8000"/>
                </a:srgbClr>
              </a:gs>
              <a:gs pos="100000">
                <a:srgbClr val="3B82F6">
                  <a:alpha val="8000"/>
                </a:srgbClr>
              </a:gs>
            </a:gsLst>
            <a:lin ang="0" scaled="1"/>
          </a:gradFill>
          <a:ln w="9525">
            <a:solidFill>
              <a:srgbClr val="FFFFFF">
                <a:alpha val="6000"/>
              </a:srgbClr>
            </a:solidFill>
          </a:ln>
        </p:spPr>
        <p:txBody>
          <a:bodyPr wrap="none" lIns="171450" tIns="86360" rIns="171450" bIns="86360" rtlCol="0" anchor="t"/>
          <a:lstStyle/>
          <a:p>
            <a:pPr algn="ctr" indent="0" marL="0">
              <a:lnSpc>
                <a:spcPts val="1148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most architectures use both — </a:t>
            </a:r>
            <a:pPr algn="ctr" indent="0" marL="0">
              <a:lnSpc>
                <a:spcPts val="1148"/>
              </a:lnSpc>
              <a:buNone/>
            </a:pPr>
            <a:r>
              <a:rPr lang="en-US" sz="82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for real-time action</a:t>
            </a:r>
            <a:pPr algn="ctr" indent="0" marL="0">
              <a:lnSpc>
                <a:spcPts val="1148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ctr" indent="0" marL="0">
              <a:lnSpc>
                <a:spcPts val="1148"/>
              </a:lnSpc>
              <a:buNone/>
            </a:pPr>
            <a:r>
              <a:rPr lang="en-US" sz="82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for deep analytics and orchestration</a:t>
            </a:r>
            <a:pPr algn="ctr" indent="0" marL="0">
              <a:lnSpc>
                <a:spcPts val="1148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20" dirty="0"/>
          </a:p>
        </p:txBody>
      </p:sp>
      <p:sp>
        <p:nvSpPr>
          <p:cNvPr id="70" name="Text 54"/>
          <p:cNvSpPr/>
          <p:nvPr/>
        </p:nvSpPr>
        <p:spPr>
          <a:xfrm>
            <a:off x="4414540" y="2509986"/>
            <a:ext cx="314920" cy="346412"/>
          </a:xfrm>
          <a:prstGeom prst="ellipse">
            <a:avLst/>
          </a:prstGeom>
          <a:solidFill>
            <a:srgbClr val="0A0F1A"/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90" b="1" spc="6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2900"/>
            <a:ext cx="8927973" cy="30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6"/>
              </a:lnSpc>
              <a:buNone/>
            </a:pPr>
            <a:r>
              <a:rPr lang="en-US" sz="203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Edge Architecture — The Compute Spectrum</a:t>
            </a:r>
            <a:endParaRPr lang="en-US" sz="2030" dirty="0"/>
          </a:p>
        </p:txBody>
      </p:sp>
      <p:sp>
        <p:nvSpPr>
          <p:cNvPr id="3" name="Text 1"/>
          <p:cNvSpPr/>
          <p:nvPr/>
        </p:nvSpPr>
        <p:spPr>
          <a:xfrm>
            <a:off x="400050" y="695325"/>
            <a:ext cx="917829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spc="2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upward from devices to cloud · Control and orchestration flows downward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400050" y="1026765"/>
            <a:ext cx="2085975" cy="43160"/>
          </a:xfrm>
          <a:prstGeom prst="rect">
            <a:avLst/>
          </a:prstGeom>
          <a:solidFill>
            <a:srgbClr val="06B6D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86025" y="1026765"/>
            <a:ext cx="2085975" cy="43160"/>
          </a:xfrm>
          <a:prstGeom prst="rect">
            <a:avLst/>
          </a:prstGeom>
          <a:solidFill>
            <a:srgbClr val="22D3EE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0" y="1026765"/>
            <a:ext cx="2085975" cy="43160"/>
          </a:xfrm>
          <a:prstGeom prst="rect">
            <a:avLst/>
          </a:prstGeom>
          <a:solidFill>
            <a:srgbClr val="0EA5E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57975" y="1026765"/>
            <a:ext cx="2085975" cy="43160"/>
          </a:xfrm>
          <a:prstGeom prst="rect">
            <a:avLst/>
          </a:prstGeom>
          <a:solidFill>
            <a:srgbClr val="3B82F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1156246"/>
            <a:ext cx="82166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NEAR (DEVICE)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8083302" y="1156246"/>
            <a:ext cx="72671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(CLOUD) →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400050" y="1417737"/>
            <a:ext cx="1871663" cy="3000077"/>
          </a:xfrm>
          <a:prstGeom prst="roundRect">
            <a:avLst>
              <a:gd name="adj" fmla="val 4614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0050" y="1417737"/>
            <a:ext cx="1871663" cy="29170"/>
          </a:xfrm>
          <a:prstGeom prst="roundRect">
            <a:avLst>
              <a:gd name="adj" fmla="val 296058"/>
            </a:avLst>
          </a:prstGeom>
          <a:solidFill>
            <a:srgbClr val="06B6D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7510" y="1564779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4017" y="1641285"/>
            <a:ext cx="132588" cy="1325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14251" y="1561207"/>
            <a:ext cx="83836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80" kern="0" dirty="0">
                <a:solidFill>
                  <a:srgbClr val="06B6D4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LAYER 1</a:t>
            </a:r>
            <a:endParaRPr lang="en-US" sz="730" dirty="0"/>
          </a:p>
        </p:txBody>
      </p:sp>
      <p:sp>
        <p:nvSpPr>
          <p:cNvPr id="15" name="Text 12"/>
          <p:cNvSpPr/>
          <p:nvPr/>
        </p:nvSpPr>
        <p:spPr>
          <a:xfrm>
            <a:off x="914251" y="1700213"/>
            <a:ext cx="83836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2"/>
              </a:lnSpc>
              <a:buNone/>
            </a:pPr>
            <a:r>
              <a:rPr lang="en-US" sz="1010" b="1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Device Edge</a:t>
            </a:r>
            <a:endParaRPr lang="en-US" sz="1010" dirty="0"/>
          </a:p>
        </p:txBody>
      </p:sp>
      <p:sp>
        <p:nvSpPr>
          <p:cNvPr id="16" name="Text 13"/>
          <p:cNvSpPr/>
          <p:nvPr/>
        </p:nvSpPr>
        <p:spPr>
          <a:xfrm>
            <a:off x="557510" y="1925092"/>
            <a:ext cx="1587877" cy="631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sensors, cameras, actuators, wearables. Minimal processing: data capture, filtering, and local actuation.</a:t>
            </a:r>
            <a:endParaRPr lang="en-US" sz="790" dirty="0"/>
          </a:p>
        </p:txBody>
      </p:sp>
      <p:sp>
        <p:nvSpPr>
          <p:cNvPr id="17" name="Text 14"/>
          <p:cNvSpPr/>
          <p:nvPr/>
        </p:nvSpPr>
        <p:spPr>
          <a:xfrm>
            <a:off x="557510" y="4113163"/>
            <a:ext cx="271463" cy="177299"/>
          </a:xfrm>
          <a:prstGeom prst="roundRect">
            <a:avLst>
              <a:gd name="adj" fmla="val 16475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</a:t>
            </a:r>
            <a:endParaRPr lang="en-US" sz="620" dirty="0"/>
          </a:p>
        </p:txBody>
      </p:sp>
      <p:sp>
        <p:nvSpPr>
          <p:cNvPr id="18" name="Text 15"/>
          <p:cNvSpPr/>
          <p:nvPr/>
        </p:nvSpPr>
        <p:spPr>
          <a:xfrm>
            <a:off x="872133" y="4113163"/>
            <a:ext cx="367605" cy="177299"/>
          </a:xfrm>
          <a:prstGeom prst="roundRect">
            <a:avLst>
              <a:gd name="adj" fmla="val 16475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Zigbee</a:t>
            </a:r>
            <a:endParaRPr lang="en-US" sz="620" dirty="0"/>
          </a:p>
        </p:txBody>
      </p:sp>
      <p:sp>
        <p:nvSpPr>
          <p:cNvPr id="19" name="Text 16"/>
          <p:cNvSpPr/>
          <p:nvPr/>
        </p:nvSpPr>
        <p:spPr>
          <a:xfrm>
            <a:off x="1282898" y="4113163"/>
            <a:ext cx="310753" cy="177299"/>
          </a:xfrm>
          <a:prstGeom prst="roundRect">
            <a:avLst>
              <a:gd name="adj" fmla="val 16475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1636812" y="4113163"/>
            <a:ext cx="336947" cy="177299"/>
          </a:xfrm>
          <a:prstGeom prst="roundRect">
            <a:avLst>
              <a:gd name="adj" fmla="val 16475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62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76934" y="2540496"/>
            <a:ext cx="75158" cy="15046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371725" y="2698552"/>
            <a:ext cx="87440" cy="18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b="1" dirty="0">
                <a:solidFill>
                  <a:srgbClr val="06B6D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450" dirty="0"/>
          </a:p>
        </p:txBody>
      </p:sp>
      <p:sp>
        <p:nvSpPr>
          <p:cNvPr id="23" name="Text 19"/>
          <p:cNvSpPr/>
          <p:nvPr/>
        </p:nvSpPr>
        <p:spPr>
          <a:xfrm>
            <a:off x="2371725" y="2959150"/>
            <a:ext cx="87440" cy="186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b="1" dirty="0">
                <a:solidFill>
                  <a:srgbClr val="3B82F6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</a:t>
            </a:r>
            <a:endParaRPr lang="en-US" sz="4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76934" y="3144589"/>
            <a:ext cx="75158" cy="15046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557463" y="1417737"/>
            <a:ext cx="1871663" cy="3000077"/>
          </a:xfrm>
          <a:prstGeom prst="roundRect">
            <a:avLst>
              <a:gd name="adj" fmla="val 4614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2557463" y="1417737"/>
            <a:ext cx="1871663" cy="29170"/>
          </a:xfrm>
          <a:prstGeom prst="roundRect">
            <a:avLst>
              <a:gd name="adj" fmla="val 296058"/>
            </a:avLst>
          </a:prstGeom>
          <a:solidFill>
            <a:srgbClr val="22D3EE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2714923" y="1641723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22D3EE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91429" y="1718230"/>
            <a:ext cx="132588" cy="1325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071664" y="1561207"/>
            <a:ext cx="132000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80" kern="0" dirty="0">
                <a:solidFill>
                  <a:srgbClr val="22D3EE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LAYER 2</a:t>
            </a:r>
            <a:endParaRPr lang="en-US" sz="730" dirty="0"/>
          </a:p>
        </p:txBody>
      </p:sp>
      <p:sp>
        <p:nvSpPr>
          <p:cNvPr id="30" name="Text 24"/>
          <p:cNvSpPr/>
          <p:nvPr/>
        </p:nvSpPr>
        <p:spPr>
          <a:xfrm>
            <a:off x="3071664" y="1700213"/>
            <a:ext cx="1224001" cy="323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2"/>
              </a:lnSpc>
              <a:buNone/>
            </a:pPr>
            <a:r>
              <a:rPr lang="en-US" sz="1010" b="1" dirty="0">
                <a:solidFill>
                  <a:srgbClr val="22D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 Edge / Gateway</a:t>
            </a:r>
            <a:endParaRPr lang="en-US" sz="1010" dirty="0"/>
          </a:p>
        </p:txBody>
      </p:sp>
      <p:sp>
        <p:nvSpPr>
          <p:cNvPr id="31" name="Text 25"/>
          <p:cNvSpPr/>
          <p:nvPr/>
        </p:nvSpPr>
        <p:spPr>
          <a:xfrm>
            <a:off x="2714923" y="2078980"/>
            <a:ext cx="1587877" cy="631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gateways, industrial PCs, NVIDIA Jetson, Intel NUC. Aggregation, inference, protocol translation.</a:t>
            </a:r>
            <a:endParaRPr lang="en-US" sz="790" dirty="0"/>
          </a:p>
        </p:txBody>
      </p:sp>
      <p:sp>
        <p:nvSpPr>
          <p:cNvPr id="32" name="Text 26"/>
          <p:cNvSpPr/>
          <p:nvPr/>
        </p:nvSpPr>
        <p:spPr>
          <a:xfrm>
            <a:off x="2714923" y="4113163"/>
            <a:ext cx="380851" cy="177299"/>
          </a:xfrm>
          <a:prstGeom prst="roundRect">
            <a:avLst>
              <a:gd name="adj" fmla="val 16475"/>
            </a:avLst>
          </a:prstGeom>
          <a:solidFill>
            <a:srgbClr val="22D3EE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620" dirty="0"/>
          </a:p>
        </p:txBody>
      </p:sp>
      <p:sp>
        <p:nvSpPr>
          <p:cNvPr id="33" name="Text 27"/>
          <p:cNvSpPr/>
          <p:nvPr/>
        </p:nvSpPr>
        <p:spPr>
          <a:xfrm>
            <a:off x="3138934" y="4113163"/>
            <a:ext cx="258514" cy="177299"/>
          </a:xfrm>
          <a:prstGeom prst="roundRect">
            <a:avLst>
              <a:gd name="adj" fmla="val 16475"/>
            </a:avLst>
          </a:prstGeom>
          <a:solidFill>
            <a:srgbClr val="22D3EE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</a:t>
            </a:r>
            <a:endParaRPr lang="en-US" sz="620" dirty="0"/>
          </a:p>
        </p:txBody>
      </p:sp>
      <p:sp>
        <p:nvSpPr>
          <p:cNvPr id="34" name="Text 28"/>
          <p:cNvSpPr/>
          <p:nvPr/>
        </p:nvSpPr>
        <p:spPr>
          <a:xfrm>
            <a:off x="3440609" y="4113163"/>
            <a:ext cx="524768" cy="177299"/>
          </a:xfrm>
          <a:prstGeom prst="roundRect">
            <a:avLst>
              <a:gd name="adj" fmla="val 16475"/>
            </a:avLst>
          </a:prstGeom>
          <a:solidFill>
            <a:srgbClr val="22D3EE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62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34346" y="2540496"/>
            <a:ext cx="75158" cy="15046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529138" y="2698552"/>
            <a:ext cx="87440" cy="18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b="1" dirty="0">
                <a:solidFill>
                  <a:srgbClr val="22D3EE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450" dirty="0"/>
          </a:p>
        </p:txBody>
      </p:sp>
      <p:sp>
        <p:nvSpPr>
          <p:cNvPr id="37" name="Text 30"/>
          <p:cNvSpPr/>
          <p:nvPr/>
        </p:nvSpPr>
        <p:spPr>
          <a:xfrm>
            <a:off x="4529138" y="2959150"/>
            <a:ext cx="87440" cy="186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b="1" dirty="0">
                <a:solidFill>
                  <a:srgbClr val="3B82F6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</a:t>
            </a:r>
            <a:endParaRPr lang="en-US" sz="45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34346" y="3144589"/>
            <a:ext cx="75158" cy="150465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714875" y="1417737"/>
            <a:ext cx="1871663" cy="3000077"/>
          </a:xfrm>
          <a:prstGeom prst="roundRect">
            <a:avLst>
              <a:gd name="adj" fmla="val 4614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4714875" y="1417737"/>
            <a:ext cx="1871663" cy="29170"/>
          </a:xfrm>
          <a:prstGeom prst="roundRect">
            <a:avLst>
              <a:gd name="adj" fmla="val 296058"/>
            </a:avLst>
          </a:prstGeom>
          <a:solidFill>
            <a:srgbClr val="0EA5E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4872335" y="1641723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EA5E9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48842" y="1718230"/>
            <a:ext cx="132588" cy="13258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229076" y="1561207"/>
            <a:ext cx="132000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80" kern="0" dirty="0">
                <a:solidFill>
                  <a:srgbClr val="0EA5E9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LAYER 3</a:t>
            </a:r>
            <a:endParaRPr lang="en-US" sz="730" dirty="0"/>
          </a:p>
        </p:txBody>
      </p:sp>
      <p:sp>
        <p:nvSpPr>
          <p:cNvPr id="44" name="Text 35"/>
          <p:cNvSpPr/>
          <p:nvPr/>
        </p:nvSpPr>
        <p:spPr>
          <a:xfrm>
            <a:off x="5229076" y="1700213"/>
            <a:ext cx="1224001" cy="323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2"/>
              </a:lnSpc>
              <a:buNone/>
            </a:pPr>
            <a:r>
              <a:rPr lang="en-US" sz="1010" b="1" dirty="0">
                <a:solidFill>
                  <a:srgbClr val="0EA5E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Network / Regional Edge</a:t>
            </a:r>
            <a:endParaRPr lang="en-US" sz="1010" dirty="0"/>
          </a:p>
        </p:txBody>
      </p:sp>
      <p:sp>
        <p:nvSpPr>
          <p:cNvPr id="45" name="Text 36"/>
          <p:cNvSpPr/>
          <p:nvPr/>
        </p:nvSpPr>
        <p:spPr>
          <a:xfrm>
            <a:off x="4872335" y="2078980"/>
            <a:ext cx="1587877" cy="789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base stations (MEC), CDN PoPs, regional micro data centers. Multi-tenant compute closer to users. 5G integration, latency &lt;5ms.</a:t>
            </a:r>
            <a:endParaRPr lang="en-US" sz="790" dirty="0"/>
          </a:p>
        </p:txBody>
      </p:sp>
      <p:sp>
        <p:nvSpPr>
          <p:cNvPr id="46" name="Text 37"/>
          <p:cNvSpPr/>
          <p:nvPr/>
        </p:nvSpPr>
        <p:spPr>
          <a:xfrm>
            <a:off x="4872335" y="4113163"/>
            <a:ext cx="289024" cy="177299"/>
          </a:xfrm>
          <a:prstGeom prst="roundRect">
            <a:avLst>
              <a:gd name="adj" fmla="val 16475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</a:t>
            </a:r>
            <a:endParaRPr lang="en-US" sz="620" dirty="0"/>
          </a:p>
        </p:txBody>
      </p:sp>
      <p:sp>
        <p:nvSpPr>
          <p:cNvPr id="47" name="Text 38"/>
          <p:cNvSpPr/>
          <p:nvPr/>
        </p:nvSpPr>
        <p:spPr>
          <a:xfrm>
            <a:off x="5204520" y="4113163"/>
            <a:ext cx="219224" cy="177299"/>
          </a:xfrm>
          <a:prstGeom prst="roundRect">
            <a:avLst>
              <a:gd name="adj" fmla="val 16475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</a:t>
            </a:r>
            <a:endParaRPr lang="en-US" sz="620" dirty="0"/>
          </a:p>
        </p:txBody>
      </p:sp>
      <p:sp>
        <p:nvSpPr>
          <p:cNvPr id="48" name="Text 39"/>
          <p:cNvSpPr/>
          <p:nvPr/>
        </p:nvSpPr>
        <p:spPr>
          <a:xfrm>
            <a:off x="5466904" y="4113163"/>
            <a:ext cx="284559" cy="177299"/>
          </a:xfrm>
          <a:prstGeom prst="roundRect">
            <a:avLst>
              <a:gd name="adj" fmla="val 16475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620" dirty="0"/>
          </a:p>
        </p:txBody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91759" y="2540496"/>
            <a:ext cx="75158" cy="150465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6686550" y="2698552"/>
            <a:ext cx="87440" cy="18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b="1" dirty="0">
                <a:solidFill>
                  <a:srgbClr val="0EA5E9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450" dirty="0"/>
          </a:p>
        </p:txBody>
      </p:sp>
      <p:sp>
        <p:nvSpPr>
          <p:cNvPr id="51" name="Text 41"/>
          <p:cNvSpPr/>
          <p:nvPr/>
        </p:nvSpPr>
        <p:spPr>
          <a:xfrm>
            <a:off x="6686550" y="2959150"/>
            <a:ext cx="87440" cy="186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b="1" dirty="0">
                <a:solidFill>
                  <a:srgbClr val="3B82F6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</a:t>
            </a:r>
            <a:endParaRPr lang="en-US" sz="450" dirty="0"/>
          </a:p>
        </p:txBody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91759" y="3144589"/>
            <a:ext cx="75158" cy="150465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6872288" y="1417737"/>
            <a:ext cx="1871663" cy="3000077"/>
          </a:xfrm>
          <a:prstGeom prst="roundRect">
            <a:avLst>
              <a:gd name="adj" fmla="val 4614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3"/>
          <p:cNvSpPr/>
          <p:nvPr/>
        </p:nvSpPr>
        <p:spPr>
          <a:xfrm>
            <a:off x="6872288" y="1417737"/>
            <a:ext cx="1871663" cy="29170"/>
          </a:xfrm>
          <a:prstGeom prst="roundRect">
            <a:avLst>
              <a:gd name="adj" fmla="val 296058"/>
            </a:avLst>
          </a:prstGeom>
          <a:solidFill>
            <a:srgbClr val="3B82F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4"/>
          <p:cNvSpPr/>
          <p:nvPr/>
        </p:nvSpPr>
        <p:spPr>
          <a:xfrm>
            <a:off x="7029748" y="1564779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106254" y="1641285"/>
            <a:ext cx="132588" cy="132588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7386489" y="1561207"/>
            <a:ext cx="69446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80" kern="0" dirty="0">
                <a:solidFill>
                  <a:srgbClr val="3B82F6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LAYER 4</a:t>
            </a:r>
            <a:endParaRPr lang="en-US" sz="730" dirty="0"/>
          </a:p>
        </p:txBody>
      </p:sp>
      <p:sp>
        <p:nvSpPr>
          <p:cNvPr id="58" name="Text 46"/>
          <p:cNvSpPr/>
          <p:nvPr/>
        </p:nvSpPr>
        <p:spPr>
          <a:xfrm>
            <a:off x="7386489" y="1700213"/>
            <a:ext cx="69446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2"/>
              </a:lnSpc>
              <a:buNone/>
            </a:pPr>
            <a:r>
              <a:rPr lang="en-US" sz="1010" b="1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 Tier</a:t>
            </a:r>
            <a:endParaRPr lang="en-US" sz="1010" dirty="0"/>
          </a:p>
        </p:txBody>
      </p:sp>
      <p:sp>
        <p:nvSpPr>
          <p:cNvPr id="59" name="Text 47"/>
          <p:cNvSpPr/>
          <p:nvPr/>
        </p:nvSpPr>
        <p:spPr>
          <a:xfrm>
            <a:off x="7029748" y="1925092"/>
            <a:ext cx="1587877" cy="789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hyperscale data centers (AWS, Azure, GCP). ML model training, long-term storage, global orchestration, analytics dashboards.</a:t>
            </a:r>
            <a:endParaRPr lang="en-US" sz="790" dirty="0"/>
          </a:p>
        </p:txBody>
      </p:sp>
      <p:sp>
        <p:nvSpPr>
          <p:cNvPr id="60" name="Text 48"/>
          <p:cNvSpPr/>
          <p:nvPr/>
        </p:nvSpPr>
        <p:spPr>
          <a:xfrm>
            <a:off x="7029748" y="4113163"/>
            <a:ext cx="293340" cy="177299"/>
          </a:xfrm>
          <a:prstGeom prst="roundRect">
            <a:avLst>
              <a:gd name="adj" fmla="val 16475"/>
            </a:avLst>
          </a:prstGeom>
          <a:solidFill>
            <a:srgbClr val="3B82F6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620" dirty="0"/>
          </a:p>
        </p:txBody>
      </p:sp>
      <p:sp>
        <p:nvSpPr>
          <p:cNvPr id="61" name="Text 49"/>
          <p:cNvSpPr/>
          <p:nvPr/>
        </p:nvSpPr>
        <p:spPr>
          <a:xfrm>
            <a:off x="7366248" y="4113163"/>
            <a:ext cx="332631" cy="177299"/>
          </a:xfrm>
          <a:prstGeom prst="roundRect">
            <a:avLst>
              <a:gd name="adj" fmla="val 16475"/>
            </a:avLst>
          </a:prstGeom>
          <a:solidFill>
            <a:srgbClr val="3B82F6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620" dirty="0"/>
          </a:p>
        </p:txBody>
      </p:sp>
      <p:sp>
        <p:nvSpPr>
          <p:cNvPr id="62" name="Text 50"/>
          <p:cNvSpPr/>
          <p:nvPr/>
        </p:nvSpPr>
        <p:spPr>
          <a:xfrm>
            <a:off x="7742039" y="4113163"/>
            <a:ext cx="284708" cy="177299"/>
          </a:xfrm>
          <a:prstGeom prst="roundRect">
            <a:avLst>
              <a:gd name="adj" fmla="val 16475"/>
            </a:avLst>
          </a:prstGeom>
          <a:solidFill>
            <a:srgbClr val="3B82F6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620" dirty="0"/>
          </a:p>
        </p:txBody>
      </p:sp>
      <p:sp>
        <p:nvSpPr>
          <p:cNvPr id="63" name="Text 51"/>
          <p:cNvSpPr/>
          <p:nvPr/>
        </p:nvSpPr>
        <p:spPr>
          <a:xfrm>
            <a:off x="400050" y="4561284"/>
            <a:ext cx="83439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000970" y="4703415"/>
            <a:ext cx="150465" cy="64740"/>
          </a:xfrm>
          <a:prstGeom prst="rect">
            <a:avLst/>
          </a:prstGeom>
        </p:spPr>
      </p:pic>
      <p:sp>
        <p:nvSpPr>
          <p:cNvPr id="65" name="Text 52"/>
          <p:cNvSpPr/>
          <p:nvPr/>
        </p:nvSpPr>
        <p:spPr>
          <a:xfrm>
            <a:off x="3208586" y="4671120"/>
            <a:ext cx="113730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(UPWARD)</a:t>
            </a:r>
            <a:endParaRPr lang="en-US" sz="680" dirty="0"/>
          </a:p>
        </p:txBody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528245" y="4703415"/>
            <a:ext cx="150465" cy="64740"/>
          </a:xfrm>
          <a:prstGeom prst="rect">
            <a:avLst/>
          </a:prstGeom>
        </p:spPr>
      </p:pic>
      <p:sp>
        <p:nvSpPr>
          <p:cNvPr id="67" name="Text 53"/>
          <p:cNvSpPr/>
          <p:nvPr/>
        </p:nvSpPr>
        <p:spPr>
          <a:xfrm>
            <a:off x="4735860" y="4671120"/>
            <a:ext cx="154788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(DOWNWARD)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2070"/>
            <a:ext cx="342900" cy="29170"/>
          </a:xfrm>
          <a:prstGeom prst="roundRect">
            <a:avLst>
              <a:gd name="adj" fmla="val 47892"/>
            </a:avLst>
          </a:prstGeom>
          <a:solidFill>
            <a:srgbClr val="06B6D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58391"/>
            <a:ext cx="8805672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030" b="1" spc="-2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Edge Deployment Models</a:t>
            </a:r>
            <a:endParaRPr lang="en-US" sz="2030" dirty="0"/>
          </a:p>
        </p:txBody>
      </p:sp>
      <p:sp>
        <p:nvSpPr>
          <p:cNvPr id="4" name="Text 2"/>
          <p:cNvSpPr/>
          <p:nvPr/>
        </p:nvSpPr>
        <p:spPr>
          <a:xfrm>
            <a:off x="457200" y="902196"/>
            <a:ext cx="90525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deployment paradigms across the edge infrastructure landscape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31416"/>
            <a:ext cx="4043065" cy="1676846"/>
          </a:xfrm>
          <a:prstGeom prst="roundRect">
            <a:avLst>
              <a:gd name="adj" fmla="val 5150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1560016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747" y="1661964"/>
            <a:ext cx="139005" cy="1390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017216"/>
            <a:ext cx="3944451" cy="16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7"/>
              </a:lnSpc>
              <a:buNone/>
            </a:pPr>
            <a:r>
              <a:rPr lang="en-US" sz="107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Edge</a:t>
            </a:r>
            <a:endParaRPr lang="en-US" sz="1070" dirty="0"/>
          </a:p>
        </p:txBody>
      </p:sp>
      <p:sp>
        <p:nvSpPr>
          <p:cNvPr id="9" name="Text 6"/>
          <p:cNvSpPr/>
          <p:nvPr/>
        </p:nvSpPr>
        <p:spPr>
          <a:xfrm>
            <a:off x="685800" y="2258020"/>
            <a:ext cx="3657582" cy="539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deployed inside the facility: factory floor, hospital, retail store. Full control over hardware and data. Technologies: 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Stack Edge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Outposts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OpenStack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70" dirty="0"/>
          </a:p>
        </p:txBody>
      </p:sp>
      <p:sp>
        <p:nvSpPr>
          <p:cNvPr id="10" name="Text 7"/>
          <p:cNvSpPr/>
          <p:nvPr/>
        </p:nvSpPr>
        <p:spPr>
          <a:xfrm>
            <a:off x="4643735" y="1331416"/>
            <a:ext cx="4043065" cy="1676846"/>
          </a:xfrm>
          <a:prstGeom prst="roundRect">
            <a:avLst>
              <a:gd name="adj" fmla="val 5150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72335" y="1560016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A78BFA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4282" y="1661964"/>
            <a:ext cx="139005" cy="1390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72335" y="2017216"/>
            <a:ext cx="3944451" cy="16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7"/>
              </a:lnSpc>
              <a:buNone/>
            </a:pPr>
            <a:r>
              <a:rPr lang="en-US" sz="107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/ Network Edge (MEC)</a:t>
            </a:r>
            <a:endParaRPr lang="en-US" sz="1070" dirty="0"/>
          </a:p>
        </p:txBody>
      </p:sp>
      <p:sp>
        <p:nvSpPr>
          <p:cNvPr id="14" name="Text 10"/>
          <p:cNvSpPr/>
          <p:nvPr/>
        </p:nvSpPr>
        <p:spPr>
          <a:xfrm>
            <a:off x="4872335" y="2258020"/>
            <a:ext cx="3657582" cy="539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at cellular base stations or ISP points of presence. Sub-5ms latency via 5G integration. Providers: 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Wavelength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MEC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Distributed Cloud Edge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70" dirty="0"/>
          </a:p>
        </p:txBody>
      </p:sp>
      <p:sp>
        <p:nvSpPr>
          <p:cNvPr id="15" name="Text 11"/>
          <p:cNvSpPr/>
          <p:nvPr/>
        </p:nvSpPr>
        <p:spPr>
          <a:xfrm>
            <a:off x="457200" y="3151733"/>
            <a:ext cx="4043065" cy="1676846"/>
          </a:xfrm>
          <a:prstGeom prst="roundRect">
            <a:avLst>
              <a:gd name="adj" fmla="val 5150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85800" y="3380333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7747" y="3482280"/>
            <a:ext cx="139005" cy="13900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5800" y="3837533"/>
            <a:ext cx="3944451" cy="16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7"/>
              </a:lnSpc>
              <a:buNone/>
            </a:pPr>
            <a:r>
              <a:rPr lang="en-US" sz="107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/ Regional Edge</a:t>
            </a:r>
            <a:endParaRPr lang="en-US" sz="1070" dirty="0"/>
          </a:p>
        </p:txBody>
      </p:sp>
      <p:sp>
        <p:nvSpPr>
          <p:cNvPr id="19" name="Text 14"/>
          <p:cNvSpPr/>
          <p:nvPr/>
        </p:nvSpPr>
        <p:spPr>
          <a:xfrm>
            <a:off x="685800" y="4078337"/>
            <a:ext cx="3657582" cy="539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delivery and compute at distributed PoPs worldwide. Serverless at the edge: 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Lambda@Edge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Fastly Compute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Ideal for caching, A/B testing, geo-routing.</a:t>
            </a:r>
            <a:endParaRPr lang="en-US" sz="870" dirty="0"/>
          </a:p>
        </p:txBody>
      </p:sp>
      <p:sp>
        <p:nvSpPr>
          <p:cNvPr id="20" name="Text 15"/>
          <p:cNvSpPr/>
          <p:nvPr/>
        </p:nvSpPr>
        <p:spPr>
          <a:xfrm>
            <a:off x="4643735" y="3151733"/>
            <a:ext cx="4043065" cy="1676846"/>
          </a:xfrm>
          <a:prstGeom prst="roundRect">
            <a:avLst>
              <a:gd name="adj" fmla="val 5150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4872335" y="3380333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74282" y="3482280"/>
            <a:ext cx="139005" cy="13900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872335" y="3837533"/>
            <a:ext cx="3944451" cy="16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7"/>
              </a:lnSpc>
              <a:buNone/>
            </a:pPr>
            <a:r>
              <a:rPr lang="en-US" sz="107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/ Embedded Edge</a:t>
            </a:r>
            <a:endParaRPr lang="en-US" sz="1070" dirty="0"/>
          </a:p>
        </p:txBody>
      </p:sp>
      <p:sp>
        <p:nvSpPr>
          <p:cNvPr id="24" name="Text 18"/>
          <p:cNvSpPr/>
          <p:nvPr/>
        </p:nvSpPr>
        <p:spPr>
          <a:xfrm>
            <a:off x="4872335" y="4078337"/>
            <a:ext cx="3657582" cy="539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on the device itself: 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Jetson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Coral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pPr algn="l" indent="0" marL="0">
              <a:lnSpc>
                <a:spcPts val="1349"/>
              </a:lnSpc>
              <a:buNone/>
            </a:pPr>
            <a:r>
              <a:rPr lang="en-US" sz="87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accelerators. Runs TinyML, TensorRT, OpenVINO. Fully autonomous, zero cloud dependency.</a:t>
            </a:r>
            <a:endParaRPr lang="en-US" sz="870" dirty="0"/>
          </a:p>
        </p:txBody>
      </p:sp>
      <p:sp>
        <p:nvSpPr>
          <p:cNvPr id="25" name="Text 19"/>
          <p:cNvSpPr/>
          <p:nvPr/>
        </p:nvSpPr>
        <p:spPr>
          <a:xfrm>
            <a:off x="457200" y="1331416"/>
            <a:ext cx="35421" cy="1676848"/>
          </a:xfrm>
          <a:custGeom>
            <a:avLst/>
            <a:gdLst/>
            <a:ahLst/>
            <a:cxnLst/>
            <a:rect l="l" t="t" r="r" b="b"/>
            <a:pathLst>
              <a:path w="35421" h="1676848">
                <a:moveTo>
                  <a:pt x="0" y="86360"/>
                </a:moveTo>
                <a:lnTo>
                  <a:pt x="4428" y="59063"/>
                </a:lnTo>
                <a:lnTo>
                  <a:pt x="8855" y="48267"/>
                </a:lnTo>
                <a:lnTo>
                  <a:pt x="13283" y="40341"/>
                </a:lnTo>
                <a:lnTo>
                  <a:pt x="17711" y="33964"/>
                </a:lnTo>
                <a:lnTo>
                  <a:pt x="22138" y="28623"/>
                </a:lnTo>
                <a:lnTo>
                  <a:pt x="26566" y="24049"/>
                </a:lnTo>
                <a:lnTo>
                  <a:pt x="30993" y="20083"/>
                </a:lnTo>
                <a:lnTo>
                  <a:pt x="35421" y="16623"/>
                </a:lnTo>
                <a:lnTo>
                  <a:pt x="35421" y="1660225"/>
                </a:lnTo>
                <a:lnTo>
                  <a:pt x="30993" y="1656764"/>
                </a:lnTo>
                <a:lnTo>
                  <a:pt x="26566" y="1652799"/>
                </a:lnTo>
                <a:lnTo>
                  <a:pt x="22138" y="1648225"/>
                </a:lnTo>
                <a:lnTo>
                  <a:pt x="17711" y="1642883"/>
                </a:lnTo>
                <a:lnTo>
                  <a:pt x="13283" y="1636507"/>
                </a:lnTo>
                <a:lnTo>
                  <a:pt x="8855" y="1628581"/>
                </a:lnTo>
                <a:lnTo>
                  <a:pt x="4428" y="1617785"/>
                </a:lnTo>
                <a:lnTo>
                  <a:pt x="0" y="1590488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4643735" y="1331416"/>
            <a:ext cx="35421" cy="1676848"/>
          </a:xfrm>
          <a:custGeom>
            <a:avLst/>
            <a:gdLst/>
            <a:ahLst/>
            <a:cxnLst/>
            <a:rect l="l" t="t" r="r" b="b"/>
            <a:pathLst>
              <a:path w="35421" h="1676848">
                <a:moveTo>
                  <a:pt x="0" y="86360"/>
                </a:moveTo>
                <a:lnTo>
                  <a:pt x="4428" y="59063"/>
                </a:lnTo>
                <a:lnTo>
                  <a:pt x="8855" y="48267"/>
                </a:lnTo>
                <a:lnTo>
                  <a:pt x="13283" y="40341"/>
                </a:lnTo>
                <a:lnTo>
                  <a:pt x="17711" y="33964"/>
                </a:lnTo>
                <a:lnTo>
                  <a:pt x="22138" y="28623"/>
                </a:lnTo>
                <a:lnTo>
                  <a:pt x="26566" y="24049"/>
                </a:lnTo>
                <a:lnTo>
                  <a:pt x="30993" y="20083"/>
                </a:lnTo>
                <a:lnTo>
                  <a:pt x="35421" y="16623"/>
                </a:lnTo>
                <a:lnTo>
                  <a:pt x="35421" y="1660225"/>
                </a:lnTo>
                <a:lnTo>
                  <a:pt x="30993" y="1656764"/>
                </a:lnTo>
                <a:lnTo>
                  <a:pt x="26566" y="1652799"/>
                </a:lnTo>
                <a:lnTo>
                  <a:pt x="22138" y="1648225"/>
                </a:lnTo>
                <a:lnTo>
                  <a:pt x="17711" y="1642883"/>
                </a:lnTo>
                <a:lnTo>
                  <a:pt x="13283" y="1636507"/>
                </a:lnTo>
                <a:lnTo>
                  <a:pt x="8855" y="1628581"/>
                </a:lnTo>
                <a:lnTo>
                  <a:pt x="4428" y="1617785"/>
                </a:lnTo>
                <a:lnTo>
                  <a:pt x="0" y="1590488"/>
                </a:lnTo>
                <a:close/>
              </a:path>
            </a:pathLst>
          </a:custGeom>
          <a:solidFill>
            <a:srgbClr val="A78B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457200" y="3151733"/>
            <a:ext cx="35421" cy="1676848"/>
          </a:xfrm>
          <a:custGeom>
            <a:avLst/>
            <a:gdLst/>
            <a:ahLst/>
            <a:cxnLst/>
            <a:rect l="l" t="t" r="r" b="b"/>
            <a:pathLst>
              <a:path w="35421" h="1676848">
                <a:moveTo>
                  <a:pt x="0" y="86360"/>
                </a:moveTo>
                <a:lnTo>
                  <a:pt x="4428" y="59063"/>
                </a:lnTo>
                <a:lnTo>
                  <a:pt x="8855" y="48267"/>
                </a:lnTo>
                <a:lnTo>
                  <a:pt x="13283" y="40341"/>
                </a:lnTo>
                <a:lnTo>
                  <a:pt x="17711" y="33964"/>
                </a:lnTo>
                <a:lnTo>
                  <a:pt x="22138" y="28623"/>
                </a:lnTo>
                <a:lnTo>
                  <a:pt x="26566" y="24049"/>
                </a:lnTo>
                <a:lnTo>
                  <a:pt x="30993" y="20083"/>
                </a:lnTo>
                <a:lnTo>
                  <a:pt x="35421" y="16623"/>
                </a:lnTo>
                <a:lnTo>
                  <a:pt x="35421" y="1660225"/>
                </a:lnTo>
                <a:lnTo>
                  <a:pt x="30993" y="1656764"/>
                </a:lnTo>
                <a:lnTo>
                  <a:pt x="26566" y="1652799"/>
                </a:lnTo>
                <a:lnTo>
                  <a:pt x="22138" y="1648225"/>
                </a:lnTo>
                <a:lnTo>
                  <a:pt x="17711" y="1642883"/>
                </a:lnTo>
                <a:lnTo>
                  <a:pt x="13283" y="1636507"/>
                </a:lnTo>
                <a:lnTo>
                  <a:pt x="8855" y="1628581"/>
                </a:lnTo>
                <a:lnTo>
                  <a:pt x="4428" y="1617785"/>
                </a:lnTo>
                <a:lnTo>
                  <a:pt x="0" y="1590488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4643735" y="3151733"/>
            <a:ext cx="35421" cy="1676848"/>
          </a:xfrm>
          <a:custGeom>
            <a:avLst/>
            <a:gdLst/>
            <a:ahLst/>
            <a:cxnLst/>
            <a:rect l="l" t="t" r="r" b="b"/>
            <a:pathLst>
              <a:path w="35421" h="1676848">
                <a:moveTo>
                  <a:pt x="0" y="86360"/>
                </a:moveTo>
                <a:lnTo>
                  <a:pt x="4428" y="59063"/>
                </a:lnTo>
                <a:lnTo>
                  <a:pt x="8855" y="48267"/>
                </a:lnTo>
                <a:lnTo>
                  <a:pt x="13283" y="40341"/>
                </a:lnTo>
                <a:lnTo>
                  <a:pt x="17711" y="33964"/>
                </a:lnTo>
                <a:lnTo>
                  <a:pt x="22138" y="28623"/>
                </a:lnTo>
                <a:lnTo>
                  <a:pt x="26566" y="24049"/>
                </a:lnTo>
                <a:lnTo>
                  <a:pt x="30993" y="20083"/>
                </a:lnTo>
                <a:lnTo>
                  <a:pt x="35421" y="16623"/>
                </a:lnTo>
                <a:lnTo>
                  <a:pt x="35421" y="1660225"/>
                </a:lnTo>
                <a:lnTo>
                  <a:pt x="30993" y="1656764"/>
                </a:lnTo>
                <a:lnTo>
                  <a:pt x="26566" y="1652799"/>
                </a:lnTo>
                <a:lnTo>
                  <a:pt x="22138" y="1648225"/>
                </a:lnTo>
                <a:lnTo>
                  <a:pt x="17711" y="1642883"/>
                </a:lnTo>
                <a:lnTo>
                  <a:pt x="13283" y="1636507"/>
                </a:lnTo>
                <a:lnTo>
                  <a:pt x="8855" y="1628581"/>
                </a:lnTo>
                <a:lnTo>
                  <a:pt x="4428" y="1617785"/>
                </a:lnTo>
                <a:lnTo>
                  <a:pt x="0" y="1590488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2900"/>
            <a:ext cx="8927973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030" b="1" spc="-3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Technologies: Compute &amp; Orchestration</a:t>
            </a:r>
            <a:endParaRPr lang="en-US" sz="2030" dirty="0"/>
          </a:p>
        </p:txBody>
      </p:sp>
      <p:sp>
        <p:nvSpPr>
          <p:cNvPr id="3" name="Text 1"/>
          <p:cNvSpPr/>
          <p:nvPr/>
        </p:nvSpPr>
        <p:spPr>
          <a:xfrm>
            <a:off x="400050" y="772716"/>
            <a:ext cx="342900" cy="29170"/>
          </a:xfrm>
          <a:prstGeom prst="roundRect">
            <a:avLst>
              <a:gd name="adj" fmla="val 47892"/>
            </a:avLst>
          </a:prstGeom>
          <a:solidFill>
            <a:srgbClr val="06B6D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1002506"/>
            <a:ext cx="2695873" cy="1834902"/>
          </a:xfrm>
          <a:prstGeom prst="roundRect">
            <a:avLst>
              <a:gd name="adj" fmla="val 4707"/>
            </a:avLst>
          </a:prstGeom>
          <a:solidFill>
            <a:srgbClr val="111827"/>
          </a:solidFill>
          <a:ln w="9525">
            <a:solidFill>
              <a:srgbClr val="06B6D4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7035" y="1183481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3542" y="1259988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3095" y="1250156"/>
            <a:ext cx="961311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 / MicroK8s</a:t>
            </a:r>
            <a:endParaRPr lang="en-US" sz="960" dirty="0"/>
          </a:p>
        </p:txBody>
      </p:sp>
      <p:sp>
        <p:nvSpPr>
          <p:cNvPr id="8" name="Text 5"/>
          <p:cNvSpPr/>
          <p:nvPr/>
        </p:nvSpPr>
        <p:spPr>
          <a:xfrm>
            <a:off x="567035" y="1540222"/>
            <a:ext cx="2409140" cy="656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Kubernetes distributions optimized for edge. Minimal resource footprint, full K8s API compatibility. Declarative workload management across distributed nodes.</a:t>
            </a:r>
            <a:endParaRPr lang="en-US" sz="820" dirty="0"/>
          </a:p>
        </p:txBody>
      </p:sp>
      <p:sp>
        <p:nvSpPr>
          <p:cNvPr id="9" name="Text 6"/>
          <p:cNvSpPr/>
          <p:nvPr/>
        </p:nvSpPr>
        <p:spPr>
          <a:xfrm>
            <a:off x="3224064" y="1002506"/>
            <a:ext cx="2695873" cy="1834902"/>
          </a:xfrm>
          <a:prstGeom prst="roundRect">
            <a:avLst>
              <a:gd name="adj" fmla="val 4707"/>
            </a:avLst>
          </a:prstGeom>
          <a:solidFill>
            <a:srgbClr val="111827"/>
          </a:solidFill>
          <a:ln w="9525">
            <a:solidFill>
              <a:srgbClr val="06B6D4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391049" y="1183481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67555" y="1259988"/>
            <a:ext cx="132588" cy="132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77109" y="1250156"/>
            <a:ext cx="1326386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Containers</a:t>
            </a:r>
            <a:endParaRPr lang="en-US" sz="960" dirty="0"/>
          </a:p>
        </p:txBody>
      </p:sp>
      <p:sp>
        <p:nvSpPr>
          <p:cNvPr id="13" name="Text 9"/>
          <p:cNvSpPr/>
          <p:nvPr/>
        </p:nvSpPr>
        <p:spPr>
          <a:xfrm>
            <a:off x="3391049" y="1540222"/>
            <a:ext cx="2409140" cy="492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portable runtime environments. Small image sizes for constrained devices. Docker Compose for multi-service edge stacks.</a:t>
            </a:r>
            <a:endParaRPr lang="en-US" sz="820" dirty="0"/>
          </a:p>
        </p:txBody>
      </p:sp>
      <p:sp>
        <p:nvSpPr>
          <p:cNvPr id="14" name="Text 10"/>
          <p:cNvSpPr/>
          <p:nvPr/>
        </p:nvSpPr>
        <p:spPr>
          <a:xfrm>
            <a:off x="6048077" y="1002506"/>
            <a:ext cx="2695873" cy="1834902"/>
          </a:xfrm>
          <a:prstGeom prst="roundRect">
            <a:avLst>
              <a:gd name="adj" fmla="val 4707"/>
            </a:avLst>
          </a:prstGeom>
          <a:solidFill>
            <a:srgbClr val="111827"/>
          </a:solidFill>
          <a:ln w="9525">
            <a:solidFill>
              <a:srgbClr val="06B6D4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215063" y="1183481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1569" y="1259988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01123" y="1250156"/>
            <a:ext cx="137828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KubeEdge / OpenYurt</a:t>
            </a:r>
            <a:endParaRPr lang="en-US" sz="960" dirty="0"/>
          </a:p>
        </p:txBody>
      </p:sp>
      <p:sp>
        <p:nvSpPr>
          <p:cNvPr id="18" name="Text 13"/>
          <p:cNvSpPr/>
          <p:nvPr/>
        </p:nvSpPr>
        <p:spPr>
          <a:xfrm>
            <a:off x="6215063" y="1540222"/>
            <a:ext cx="2409140" cy="656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projects extending Kubernetes to the edge. Cloud-edge coordination, offline autonomy, device management. MetaManager for edge-cloud metadata sync.</a:t>
            </a:r>
            <a:endParaRPr lang="en-US" sz="820" dirty="0"/>
          </a:p>
        </p:txBody>
      </p:sp>
      <p:sp>
        <p:nvSpPr>
          <p:cNvPr id="19" name="Text 14"/>
          <p:cNvSpPr/>
          <p:nvPr/>
        </p:nvSpPr>
        <p:spPr>
          <a:xfrm>
            <a:off x="400050" y="2965549"/>
            <a:ext cx="2695873" cy="1835051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9525">
            <a:solidFill>
              <a:srgbClr val="06B6D4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567035" y="3146524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542" y="3223031"/>
            <a:ext cx="132588" cy="132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3095" y="3213199"/>
            <a:ext cx="201397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Jetson / Intel OpenVINO</a:t>
            </a:r>
            <a:endParaRPr lang="en-US" sz="960" dirty="0"/>
          </a:p>
        </p:txBody>
      </p:sp>
      <p:sp>
        <p:nvSpPr>
          <p:cNvPr id="23" name="Text 17"/>
          <p:cNvSpPr/>
          <p:nvPr/>
        </p:nvSpPr>
        <p:spPr>
          <a:xfrm>
            <a:off x="567035" y="3503265"/>
            <a:ext cx="2409140" cy="656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accelerators for edge AI inference. GPU/TPU/VPU compute for vision, NLP, and sensor fusion. TensorRT and ONNX Runtime optimization.</a:t>
            </a:r>
            <a:endParaRPr lang="en-US" sz="820" dirty="0"/>
          </a:p>
        </p:txBody>
      </p:sp>
      <p:sp>
        <p:nvSpPr>
          <p:cNvPr id="24" name="Text 18"/>
          <p:cNvSpPr/>
          <p:nvPr/>
        </p:nvSpPr>
        <p:spPr>
          <a:xfrm>
            <a:off x="3224064" y="2965549"/>
            <a:ext cx="2695873" cy="1835051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9525">
            <a:solidFill>
              <a:srgbClr val="06B6D4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3391049" y="3146524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67555" y="3223031"/>
            <a:ext cx="132588" cy="132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77109" y="3213199"/>
            <a:ext cx="1326386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 Greengrass</a:t>
            </a:r>
            <a:endParaRPr lang="en-US" sz="960" dirty="0"/>
          </a:p>
        </p:txBody>
      </p:sp>
      <p:sp>
        <p:nvSpPr>
          <p:cNvPr id="28" name="Text 21"/>
          <p:cNvSpPr/>
          <p:nvPr/>
        </p:nvSpPr>
        <p:spPr>
          <a:xfrm>
            <a:off x="3391049" y="3503265"/>
            <a:ext cx="2409140" cy="492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edge runtime from AWS. Local Lambda execution, ML inference, device shadows. Integrates with IoT Core, S3, and SageMaker.</a:t>
            </a:r>
            <a:endParaRPr lang="en-US" sz="820" dirty="0"/>
          </a:p>
        </p:txBody>
      </p:sp>
      <p:sp>
        <p:nvSpPr>
          <p:cNvPr id="29" name="Text 22"/>
          <p:cNvSpPr/>
          <p:nvPr/>
        </p:nvSpPr>
        <p:spPr>
          <a:xfrm>
            <a:off x="6048077" y="2965549"/>
            <a:ext cx="2695873" cy="1835051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9525">
            <a:solidFill>
              <a:srgbClr val="06B6D4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6215063" y="3146524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91569" y="3223031"/>
            <a:ext cx="132588" cy="1325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01123" y="3213199"/>
            <a:ext cx="975881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IoT Edge</a:t>
            </a:r>
            <a:endParaRPr lang="en-US" sz="960" dirty="0"/>
          </a:p>
        </p:txBody>
      </p:sp>
      <p:sp>
        <p:nvSpPr>
          <p:cNvPr id="33" name="Text 25"/>
          <p:cNvSpPr/>
          <p:nvPr/>
        </p:nvSpPr>
        <p:spPr>
          <a:xfrm>
            <a:off x="6215063" y="3503265"/>
            <a:ext cx="2409140" cy="656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Container-based edge modules managed from Azure cloud. Stream Analytics, Custom Vision, and cognitive services at the edge. Integration with Azure Arc for hybrid management.</a:t>
            </a:r>
            <a:endParaRPr lang="en-US" sz="820" dirty="0"/>
          </a:p>
        </p:txBody>
      </p:sp>
      <p:sp>
        <p:nvSpPr>
          <p:cNvPr id="34" name="Text 26"/>
          <p:cNvSpPr/>
          <p:nvPr/>
        </p:nvSpPr>
        <p:spPr>
          <a:xfrm>
            <a:off x="409575" y="1012031"/>
            <a:ext cx="2676820" cy="21580"/>
          </a:xfrm>
          <a:custGeom>
            <a:avLst/>
            <a:gdLst/>
            <a:ahLst/>
            <a:cxnLst/>
            <a:rect l="l" t="t" r="r" b="b"/>
            <a:pathLst>
              <a:path w="2676820" h="21580">
                <a:moveTo>
                  <a:pt x="86360" y="0"/>
                </a:moveTo>
                <a:lnTo>
                  <a:pt x="2590460" y="0"/>
                </a:lnTo>
                <a:lnTo>
                  <a:pt x="2611876" y="2698"/>
                </a:lnTo>
                <a:lnTo>
                  <a:pt x="2620506" y="5395"/>
                </a:lnTo>
                <a:lnTo>
                  <a:pt x="2626960" y="8093"/>
                </a:lnTo>
                <a:lnTo>
                  <a:pt x="2632260" y="10790"/>
                </a:lnTo>
                <a:lnTo>
                  <a:pt x="2636803" y="13488"/>
                </a:lnTo>
                <a:lnTo>
                  <a:pt x="2640794" y="16185"/>
                </a:lnTo>
                <a:lnTo>
                  <a:pt x="2644357" y="18883"/>
                </a:lnTo>
                <a:lnTo>
                  <a:pt x="2647571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06B6D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3233589" y="1012031"/>
            <a:ext cx="2676820" cy="21580"/>
          </a:xfrm>
          <a:custGeom>
            <a:avLst/>
            <a:gdLst/>
            <a:ahLst/>
            <a:cxnLst/>
            <a:rect l="l" t="t" r="r" b="b"/>
            <a:pathLst>
              <a:path w="2676820" h="21580">
                <a:moveTo>
                  <a:pt x="86360" y="0"/>
                </a:moveTo>
                <a:lnTo>
                  <a:pt x="2590460" y="0"/>
                </a:lnTo>
                <a:lnTo>
                  <a:pt x="2611876" y="2698"/>
                </a:lnTo>
                <a:lnTo>
                  <a:pt x="2620506" y="5395"/>
                </a:lnTo>
                <a:lnTo>
                  <a:pt x="2626960" y="8093"/>
                </a:lnTo>
                <a:lnTo>
                  <a:pt x="2632260" y="10790"/>
                </a:lnTo>
                <a:lnTo>
                  <a:pt x="2636803" y="13488"/>
                </a:lnTo>
                <a:lnTo>
                  <a:pt x="2640794" y="16185"/>
                </a:lnTo>
                <a:lnTo>
                  <a:pt x="2644357" y="18883"/>
                </a:lnTo>
                <a:lnTo>
                  <a:pt x="2647571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06B6D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6057602" y="1012031"/>
            <a:ext cx="2676820" cy="21580"/>
          </a:xfrm>
          <a:custGeom>
            <a:avLst/>
            <a:gdLst/>
            <a:ahLst/>
            <a:cxnLst/>
            <a:rect l="l" t="t" r="r" b="b"/>
            <a:pathLst>
              <a:path w="2676820" h="21580">
                <a:moveTo>
                  <a:pt x="86360" y="0"/>
                </a:moveTo>
                <a:lnTo>
                  <a:pt x="2590460" y="0"/>
                </a:lnTo>
                <a:lnTo>
                  <a:pt x="2611876" y="2698"/>
                </a:lnTo>
                <a:lnTo>
                  <a:pt x="2620506" y="5395"/>
                </a:lnTo>
                <a:lnTo>
                  <a:pt x="2626960" y="8093"/>
                </a:lnTo>
                <a:lnTo>
                  <a:pt x="2632260" y="10790"/>
                </a:lnTo>
                <a:lnTo>
                  <a:pt x="2636803" y="13488"/>
                </a:lnTo>
                <a:lnTo>
                  <a:pt x="2640794" y="16185"/>
                </a:lnTo>
                <a:lnTo>
                  <a:pt x="2644357" y="18883"/>
                </a:lnTo>
                <a:lnTo>
                  <a:pt x="2647571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06B6D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409575" y="2975074"/>
            <a:ext cx="2676820" cy="21580"/>
          </a:xfrm>
          <a:custGeom>
            <a:avLst/>
            <a:gdLst/>
            <a:ahLst/>
            <a:cxnLst/>
            <a:rect l="l" t="t" r="r" b="b"/>
            <a:pathLst>
              <a:path w="2676820" h="21580">
                <a:moveTo>
                  <a:pt x="86360" y="0"/>
                </a:moveTo>
                <a:lnTo>
                  <a:pt x="2590460" y="0"/>
                </a:lnTo>
                <a:lnTo>
                  <a:pt x="2611876" y="2698"/>
                </a:lnTo>
                <a:lnTo>
                  <a:pt x="2620506" y="5395"/>
                </a:lnTo>
                <a:lnTo>
                  <a:pt x="2626960" y="8093"/>
                </a:lnTo>
                <a:lnTo>
                  <a:pt x="2632260" y="10790"/>
                </a:lnTo>
                <a:lnTo>
                  <a:pt x="2636803" y="13488"/>
                </a:lnTo>
                <a:lnTo>
                  <a:pt x="2640794" y="16185"/>
                </a:lnTo>
                <a:lnTo>
                  <a:pt x="2644357" y="18883"/>
                </a:lnTo>
                <a:lnTo>
                  <a:pt x="2647571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06B6D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3233589" y="2975074"/>
            <a:ext cx="2676820" cy="21580"/>
          </a:xfrm>
          <a:custGeom>
            <a:avLst/>
            <a:gdLst/>
            <a:ahLst/>
            <a:cxnLst/>
            <a:rect l="l" t="t" r="r" b="b"/>
            <a:pathLst>
              <a:path w="2676820" h="21580">
                <a:moveTo>
                  <a:pt x="86360" y="0"/>
                </a:moveTo>
                <a:lnTo>
                  <a:pt x="2590460" y="0"/>
                </a:lnTo>
                <a:lnTo>
                  <a:pt x="2611876" y="2698"/>
                </a:lnTo>
                <a:lnTo>
                  <a:pt x="2620506" y="5395"/>
                </a:lnTo>
                <a:lnTo>
                  <a:pt x="2626960" y="8093"/>
                </a:lnTo>
                <a:lnTo>
                  <a:pt x="2632260" y="10790"/>
                </a:lnTo>
                <a:lnTo>
                  <a:pt x="2636803" y="13488"/>
                </a:lnTo>
                <a:lnTo>
                  <a:pt x="2640794" y="16185"/>
                </a:lnTo>
                <a:lnTo>
                  <a:pt x="2644357" y="18883"/>
                </a:lnTo>
                <a:lnTo>
                  <a:pt x="2647571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06B6D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6057602" y="2975074"/>
            <a:ext cx="2676820" cy="21580"/>
          </a:xfrm>
          <a:custGeom>
            <a:avLst/>
            <a:gdLst/>
            <a:ahLst/>
            <a:cxnLst/>
            <a:rect l="l" t="t" r="r" b="b"/>
            <a:pathLst>
              <a:path w="2676820" h="21580">
                <a:moveTo>
                  <a:pt x="86360" y="0"/>
                </a:moveTo>
                <a:lnTo>
                  <a:pt x="2590460" y="0"/>
                </a:lnTo>
                <a:lnTo>
                  <a:pt x="2611876" y="2698"/>
                </a:lnTo>
                <a:lnTo>
                  <a:pt x="2620506" y="5395"/>
                </a:lnTo>
                <a:lnTo>
                  <a:pt x="2626960" y="8093"/>
                </a:lnTo>
                <a:lnTo>
                  <a:pt x="2632260" y="10790"/>
                </a:lnTo>
                <a:lnTo>
                  <a:pt x="2636803" y="13488"/>
                </a:lnTo>
                <a:lnTo>
                  <a:pt x="2640794" y="16185"/>
                </a:lnTo>
                <a:lnTo>
                  <a:pt x="2644357" y="18883"/>
                </a:lnTo>
                <a:lnTo>
                  <a:pt x="2647571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06B6D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220" y="314920"/>
            <a:ext cx="8865549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45"/>
              </a:lnSpc>
              <a:spcAft>
                <a:spcPts val="450"/>
              </a:spcAft>
              <a:buNone/>
            </a:pPr>
            <a:r>
              <a:rPr lang="en-US" sz="2030" b="1" spc="-2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Technologies: Connectivity &amp; Data</a:t>
            </a:r>
            <a:endParaRPr lang="en-US" sz="2030" dirty="0"/>
          </a:p>
        </p:txBody>
      </p:sp>
      <p:sp>
        <p:nvSpPr>
          <p:cNvPr id="3" name="Text 1"/>
          <p:cNvSpPr/>
          <p:nvPr/>
        </p:nvSpPr>
        <p:spPr>
          <a:xfrm>
            <a:off x="429220" y="758726"/>
            <a:ext cx="342900" cy="29170"/>
          </a:xfrm>
          <a:prstGeom prst="roundRect">
            <a:avLst>
              <a:gd name="adj" fmla="val 47892"/>
            </a:avLst>
          </a:prstGeom>
          <a:solidFill>
            <a:srgbClr val="06B6D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9220" y="959197"/>
            <a:ext cx="8285559" cy="572393"/>
          </a:xfrm>
          <a:prstGeom prst="roundRect">
            <a:avLst>
              <a:gd name="adj" fmla="val 12425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9220" y="959197"/>
            <a:ext cx="19050" cy="572393"/>
          </a:xfrm>
          <a:custGeom>
            <a:avLst/>
            <a:gdLst/>
            <a:ahLst/>
            <a:cxnLst/>
            <a:rect l="l" t="t" r="r" b="b"/>
            <a:pathLst>
              <a:path w="19050" h="572393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49716"/>
                </a:lnTo>
                <a:lnTo>
                  <a:pt x="16669" y="547024"/>
                </a:lnTo>
                <a:lnTo>
                  <a:pt x="14288" y="544029"/>
                </a:lnTo>
                <a:lnTo>
                  <a:pt x="11906" y="540666"/>
                </a:lnTo>
                <a:lnTo>
                  <a:pt x="9525" y="536827"/>
                </a:lnTo>
                <a:lnTo>
                  <a:pt x="7144" y="532339"/>
                </a:lnTo>
                <a:lnTo>
                  <a:pt x="4763" y="526861"/>
                </a:lnTo>
                <a:lnTo>
                  <a:pt x="2381" y="519522"/>
                </a:lnTo>
                <a:lnTo>
                  <a:pt x="0" y="501273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1741" y="1073348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8247" y="1149855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632" y="1059507"/>
            <a:ext cx="7716991" cy="390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5"/>
              </a:lnSpc>
              <a:buNone/>
            </a:pPr>
            <a:r>
              <a:rPr lang="en-US" sz="101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/ MQTT 5.0</a:t>
            </a:r>
            <a:pPr algn="l" indent="0" marL="0">
              <a:lnSpc>
                <a:spcPts val="1465"/>
              </a:lnSpc>
              <a:buNone/>
            </a:pPr>
            <a:r>
              <a:rPr lang="en-US" sz="101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465"/>
              </a:lnSpc>
              <a:buNone/>
            </a:pPr>
            <a:r>
              <a:rPr lang="en-US" sz="101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Lightweight pub/sub messaging protocol optimized for constrained devices and unreliable networks. QoS levels 0–2. Brokers: Mosquitto, EMQX, HiveMQ.</a:t>
            </a:r>
            <a:endParaRPr lang="en-US" sz="1010" dirty="0"/>
          </a:p>
        </p:txBody>
      </p:sp>
      <p:sp>
        <p:nvSpPr>
          <p:cNvPr id="9" name="Text 6"/>
          <p:cNvSpPr/>
          <p:nvPr/>
        </p:nvSpPr>
        <p:spPr>
          <a:xfrm>
            <a:off x="429220" y="1602581"/>
            <a:ext cx="8285559" cy="572393"/>
          </a:xfrm>
          <a:prstGeom prst="roundRect">
            <a:avLst>
              <a:gd name="adj" fmla="val 12425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29220" y="1602581"/>
            <a:ext cx="19050" cy="572393"/>
          </a:xfrm>
          <a:custGeom>
            <a:avLst/>
            <a:gdLst/>
            <a:ahLst/>
            <a:cxnLst/>
            <a:rect l="l" t="t" r="r" b="b"/>
            <a:pathLst>
              <a:path w="19050" h="572393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49716"/>
                </a:lnTo>
                <a:lnTo>
                  <a:pt x="16669" y="547024"/>
                </a:lnTo>
                <a:lnTo>
                  <a:pt x="14288" y="544029"/>
                </a:lnTo>
                <a:lnTo>
                  <a:pt x="11906" y="540666"/>
                </a:lnTo>
                <a:lnTo>
                  <a:pt x="9525" y="536827"/>
                </a:lnTo>
                <a:lnTo>
                  <a:pt x="7144" y="532339"/>
                </a:lnTo>
                <a:lnTo>
                  <a:pt x="4763" y="526861"/>
                </a:lnTo>
                <a:lnTo>
                  <a:pt x="2381" y="519522"/>
                </a:lnTo>
                <a:lnTo>
                  <a:pt x="0" y="501273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91741" y="1716732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22D3EE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247" y="1793239"/>
            <a:ext cx="132588" cy="132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632" y="1702891"/>
            <a:ext cx="7716991" cy="390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5"/>
              </a:lnSpc>
              <a:buNone/>
            </a:pPr>
            <a:r>
              <a:rPr lang="en-US" sz="101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&amp; Protocol Buffers</a:t>
            </a:r>
            <a:pPr algn="l" indent="0" marL="0">
              <a:lnSpc>
                <a:spcPts val="1465"/>
              </a:lnSpc>
              <a:buNone/>
            </a:pPr>
            <a:r>
              <a:rPr lang="en-US" sz="101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465"/>
              </a:lnSpc>
              <a:buNone/>
            </a:pPr>
            <a:r>
              <a:rPr lang="en-US" sz="101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High-performance RPC framework for service-to-service communication. Binary serialization, HTTP/2 multiplexing, bidirectional streaming.</a:t>
            </a:r>
            <a:endParaRPr lang="en-US" sz="1010" dirty="0"/>
          </a:p>
        </p:txBody>
      </p:sp>
      <p:sp>
        <p:nvSpPr>
          <p:cNvPr id="14" name="Text 10"/>
          <p:cNvSpPr/>
          <p:nvPr/>
        </p:nvSpPr>
        <p:spPr>
          <a:xfrm>
            <a:off x="429220" y="2245965"/>
            <a:ext cx="8285559" cy="572393"/>
          </a:xfrm>
          <a:prstGeom prst="roundRect">
            <a:avLst>
              <a:gd name="adj" fmla="val 12425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29220" y="2245965"/>
            <a:ext cx="19050" cy="572393"/>
          </a:xfrm>
          <a:custGeom>
            <a:avLst/>
            <a:gdLst/>
            <a:ahLst/>
            <a:cxnLst/>
            <a:rect l="l" t="t" r="r" b="b"/>
            <a:pathLst>
              <a:path w="19050" h="572393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49716"/>
                </a:lnTo>
                <a:lnTo>
                  <a:pt x="16669" y="547024"/>
                </a:lnTo>
                <a:lnTo>
                  <a:pt x="14288" y="544029"/>
                </a:lnTo>
                <a:lnTo>
                  <a:pt x="11906" y="540666"/>
                </a:lnTo>
                <a:lnTo>
                  <a:pt x="9525" y="536827"/>
                </a:lnTo>
                <a:lnTo>
                  <a:pt x="7144" y="532339"/>
                </a:lnTo>
                <a:lnTo>
                  <a:pt x="4763" y="526861"/>
                </a:lnTo>
                <a:lnTo>
                  <a:pt x="2381" y="519522"/>
                </a:lnTo>
                <a:lnTo>
                  <a:pt x="0" y="501273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91741" y="236011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EA5E9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8247" y="2436623"/>
            <a:ext cx="132588" cy="132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632" y="2346275"/>
            <a:ext cx="7716991" cy="390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5"/>
              </a:lnSpc>
              <a:buNone/>
            </a:pPr>
            <a:r>
              <a:rPr lang="en-US" sz="101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/ NATS JetStream</a:t>
            </a:r>
            <a:pPr algn="l" indent="0" marL="0">
              <a:lnSpc>
                <a:spcPts val="1465"/>
              </a:lnSpc>
              <a:buNone/>
            </a:pPr>
            <a:r>
              <a:rPr lang="en-US" sz="101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465"/>
              </a:lnSpc>
              <a:buNone/>
            </a:pPr>
            <a:r>
              <a:rPr lang="en-US" sz="101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Event streaming for edge-to-cloud data pipelines. Kafka for high-throughput, NATS for lightweight edge deployments with at-least-once delivery.</a:t>
            </a:r>
            <a:endParaRPr lang="en-US" sz="1010" dirty="0"/>
          </a:p>
        </p:txBody>
      </p:sp>
      <p:sp>
        <p:nvSpPr>
          <p:cNvPr id="19" name="Text 14"/>
          <p:cNvSpPr/>
          <p:nvPr/>
        </p:nvSpPr>
        <p:spPr>
          <a:xfrm>
            <a:off x="429220" y="2889349"/>
            <a:ext cx="8285559" cy="572393"/>
          </a:xfrm>
          <a:prstGeom prst="roundRect">
            <a:avLst>
              <a:gd name="adj" fmla="val 12425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429220" y="2889349"/>
            <a:ext cx="19050" cy="572393"/>
          </a:xfrm>
          <a:custGeom>
            <a:avLst/>
            <a:gdLst/>
            <a:ahLst/>
            <a:cxnLst/>
            <a:rect l="l" t="t" r="r" b="b"/>
            <a:pathLst>
              <a:path w="19050" h="572393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49716"/>
                </a:lnTo>
                <a:lnTo>
                  <a:pt x="16669" y="547024"/>
                </a:lnTo>
                <a:lnTo>
                  <a:pt x="14288" y="544029"/>
                </a:lnTo>
                <a:lnTo>
                  <a:pt x="11906" y="540666"/>
                </a:lnTo>
                <a:lnTo>
                  <a:pt x="9525" y="536827"/>
                </a:lnTo>
                <a:lnTo>
                  <a:pt x="7144" y="532339"/>
                </a:lnTo>
                <a:lnTo>
                  <a:pt x="4763" y="526861"/>
                </a:lnTo>
                <a:lnTo>
                  <a:pt x="2381" y="519522"/>
                </a:lnTo>
                <a:lnTo>
                  <a:pt x="0" y="501273"/>
                </a:lnTo>
                <a:close/>
              </a:path>
            </a:pathLst>
          </a:custGeom>
          <a:solidFill>
            <a:srgbClr val="A78B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91741" y="300350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A78BFA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8247" y="3080007"/>
            <a:ext cx="132588" cy="132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632" y="2989659"/>
            <a:ext cx="7716991" cy="390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5"/>
              </a:lnSpc>
              <a:buNone/>
            </a:pPr>
            <a:r>
              <a:rPr lang="en-US" sz="101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Databases</a:t>
            </a:r>
            <a:pPr algn="l" indent="0" marL="0">
              <a:lnSpc>
                <a:spcPts val="1465"/>
              </a:lnSpc>
              <a:buNone/>
            </a:pPr>
            <a:r>
              <a:rPr lang="en-US" sz="101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465"/>
              </a:lnSpc>
              <a:buNone/>
            </a:pPr>
            <a:r>
              <a:rPr lang="en-US" sz="101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InfluxDB, TimescaleDB, and Prometheus for sensor telemetry storage and real-time querying. Downsampling and retention policies for constrained storage.</a:t>
            </a:r>
            <a:endParaRPr lang="en-US" sz="1010" dirty="0"/>
          </a:p>
        </p:txBody>
      </p:sp>
      <p:sp>
        <p:nvSpPr>
          <p:cNvPr id="24" name="Text 18"/>
          <p:cNvSpPr/>
          <p:nvPr/>
        </p:nvSpPr>
        <p:spPr>
          <a:xfrm>
            <a:off x="429220" y="3532733"/>
            <a:ext cx="8285559" cy="572393"/>
          </a:xfrm>
          <a:prstGeom prst="roundRect">
            <a:avLst>
              <a:gd name="adj" fmla="val 12425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429220" y="3532733"/>
            <a:ext cx="19050" cy="572393"/>
          </a:xfrm>
          <a:custGeom>
            <a:avLst/>
            <a:gdLst/>
            <a:ahLst/>
            <a:cxnLst/>
            <a:rect l="l" t="t" r="r" b="b"/>
            <a:pathLst>
              <a:path w="19050" h="572393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49716"/>
                </a:lnTo>
                <a:lnTo>
                  <a:pt x="16669" y="547024"/>
                </a:lnTo>
                <a:lnTo>
                  <a:pt x="14288" y="544029"/>
                </a:lnTo>
                <a:lnTo>
                  <a:pt x="11906" y="540666"/>
                </a:lnTo>
                <a:lnTo>
                  <a:pt x="9525" y="536827"/>
                </a:lnTo>
                <a:lnTo>
                  <a:pt x="7144" y="532339"/>
                </a:lnTo>
                <a:lnTo>
                  <a:pt x="4763" y="526861"/>
                </a:lnTo>
                <a:lnTo>
                  <a:pt x="2381" y="519522"/>
                </a:lnTo>
                <a:lnTo>
                  <a:pt x="0" y="501273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591741" y="3646884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8247" y="3723391"/>
            <a:ext cx="132588" cy="132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5632" y="3633043"/>
            <a:ext cx="7716991" cy="390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5"/>
              </a:lnSpc>
              <a:buNone/>
            </a:pPr>
            <a:r>
              <a:rPr lang="en-US" sz="101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/ Object Storage</a:t>
            </a:r>
            <a:pPr algn="l" indent="0" marL="0">
              <a:lnSpc>
                <a:spcPts val="1465"/>
              </a:lnSpc>
              <a:buNone/>
            </a:pPr>
            <a:r>
              <a:rPr lang="en-US" sz="101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465"/>
              </a:lnSpc>
              <a:buNone/>
            </a:pPr>
            <a:r>
              <a:rPr lang="en-US" sz="101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S3-compatible object storage deployable at the edge. Store images, logs, and model artifacts locally before cloud sync.</a:t>
            </a:r>
            <a:endParaRPr lang="en-US" sz="1010" dirty="0"/>
          </a:p>
        </p:txBody>
      </p:sp>
      <p:sp>
        <p:nvSpPr>
          <p:cNvPr id="29" name="Text 22"/>
          <p:cNvSpPr/>
          <p:nvPr/>
        </p:nvSpPr>
        <p:spPr>
          <a:xfrm>
            <a:off x="429220" y="4176117"/>
            <a:ext cx="8285559" cy="572393"/>
          </a:xfrm>
          <a:prstGeom prst="roundRect">
            <a:avLst>
              <a:gd name="adj" fmla="val 12425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429220" y="4176117"/>
            <a:ext cx="19050" cy="572393"/>
          </a:xfrm>
          <a:custGeom>
            <a:avLst/>
            <a:gdLst/>
            <a:ahLst/>
            <a:cxnLst/>
            <a:rect l="l" t="t" r="r" b="b"/>
            <a:pathLst>
              <a:path w="19050" h="572393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49716"/>
                </a:lnTo>
                <a:lnTo>
                  <a:pt x="16669" y="547024"/>
                </a:lnTo>
                <a:lnTo>
                  <a:pt x="14288" y="544029"/>
                </a:lnTo>
                <a:lnTo>
                  <a:pt x="11906" y="540666"/>
                </a:lnTo>
                <a:lnTo>
                  <a:pt x="9525" y="536827"/>
                </a:lnTo>
                <a:lnTo>
                  <a:pt x="7144" y="532339"/>
                </a:lnTo>
                <a:lnTo>
                  <a:pt x="4763" y="526861"/>
                </a:lnTo>
                <a:lnTo>
                  <a:pt x="2381" y="519522"/>
                </a:lnTo>
                <a:lnTo>
                  <a:pt x="0" y="501273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591741" y="4290268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8247" y="4366775"/>
            <a:ext cx="132588" cy="1325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05632" y="4276427"/>
            <a:ext cx="7716991" cy="390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5"/>
              </a:lnSpc>
              <a:buNone/>
            </a:pPr>
            <a:r>
              <a:rPr lang="en-US" sz="101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OPC-UA &amp; Modbus</a:t>
            </a:r>
            <a:pPr algn="l" indent="0" marL="0">
              <a:lnSpc>
                <a:spcPts val="1465"/>
              </a:lnSpc>
              <a:buNone/>
            </a:pPr>
            <a:r>
              <a:rPr lang="en-US" sz="101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465"/>
              </a:lnSpc>
              <a:buNone/>
            </a:pPr>
            <a:r>
              <a:rPr lang="en-US" sz="101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Industrial protocols for manufacturing and SCADA systems. OPC-UA provides secure, interoperable machine-to-machine communication on the factory floor.</a:t>
            </a:r>
            <a:endParaRPr lang="en-US" sz="101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>
            <a:alphaModFix amt="50000"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06924" y="4807083"/>
            <a:ext cx="132588" cy="13258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273230" y="4803874"/>
            <a:ext cx="158570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· DATA · EDGE</a:t>
            </a:r>
            <a:endParaRPr lang="en-US" sz="7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14920"/>
            <a:ext cx="8927973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45"/>
              </a:lnSpc>
              <a:spcAft>
                <a:spcPts val="340"/>
              </a:spcAft>
              <a:buNone/>
            </a:pPr>
            <a:r>
              <a:rPr lang="en-US" sz="2030" b="1" spc="-2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Edge Computing Use Cases</a:t>
            </a:r>
            <a:endParaRPr lang="en-US" sz="2030" dirty="0"/>
          </a:p>
        </p:txBody>
      </p:sp>
      <p:sp>
        <p:nvSpPr>
          <p:cNvPr id="3" name="Text 1"/>
          <p:cNvSpPr/>
          <p:nvPr/>
        </p:nvSpPr>
        <p:spPr>
          <a:xfrm>
            <a:off x="400050" y="744736"/>
            <a:ext cx="400050" cy="29170"/>
          </a:xfrm>
          <a:prstGeom prst="roundRect">
            <a:avLst>
              <a:gd name="adj" fmla="val 47892"/>
            </a:avLst>
          </a:prstGeom>
          <a:solidFill>
            <a:srgbClr val="06B6D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974527"/>
            <a:ext cx="2695873" cy="1589038"/>
          </a:xfrm>
          <a:prstGeom prst="roundRect">
            <a:avLst>
              <a:gd name="adj" fmla="val 5435"/>
            </a:avLst>
          </a:prstGeom>
          <a:solidFill>
            <a:srgbClr val="111827"/>
          </a:solidFill>
          <a:ln w="9525">
            <a:solidFill>
              <a:srgbClr val="FFFFFF">
                <a:alpha val="4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7035" y="1155502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4993" y="1243459"/>
            <a:ext cx="139005" cy="1390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7035" y="1541413"/>
            <a:ext cx="2598093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IoT (IIoT)</a:t>
            </a:r>
            <a:endParaRPr lang="en-US" sz="960" dirty="0"/>
          </a:p>
        </p:txBody>
      </p:sp>
      <p:sp>
        <p:nvSpPr>
          <p:cNvPr id="8" name="Text 5"/>
          <p:cNvSpPr/>
          <p:nvPr/>
        </p:nvSpPr>
        <p:spPr>
          <a:xfrm>
            <a:off x="567035" y="1764655"/>
            <a:ext cx="2409140" cy="678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on factory equipment using vibration/thermal sensors + edge ML. Real-time anomaly detection reduces unplanned downtime by 30‑50%.</a:t>
            </a:r>
            <a:endParaRPr lang="en-US" sz="820" dirty="0"/>
          </a:p>
        </p:txBody>
      </p:sp>
      <p:sp>
        <p:nvSpPr>
          <p:cNvPr id="9" name="Text 6"/>
          <p:cNvSpPr/>
          <p:nvPr/>
        </p:nvSpPr>
        <p:spPr>
          <a:xfrm>
            <a:off x="3224064" y="974527"/>
            <a:ext cx="2695873" cy="1589038"/>
          </a:xfrm>
          <a:prstGeom prst="roundRect">
            <a:avLst>
              <a:gd name="adj" fmla="val 5435"/>
            </a:avLst>
          </a:prstGeom>
          <a:solidFill>
            <a:srgbClr val="111827"/>
          </a:solidFill>
          <a:ln w="9525">
            <a:solidFill>
              <a:srgbClr val="FFFFFF">
                <a:alpha val="4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391049" y="1155502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A78BFA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9006" y="1243459"/>
            <a:ext cx="139005" cy="1390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91049" y="1541413"/>
            <a:ext cx="2598093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960" dirty="0"/>
          </a:p>
        </p:txBody>
      </p:sp>
      <p:sp>
        <p:nvSpPr>
          <p:cNvPr id="13" name="Text 9"/>
          <p:cNvSpPr/>
          <p:nvPr/>
        </p:nvSpPr>
        <p:spPr>
          <a:xfrm>
            <a:off x="3391049" y="1764655"/>
            <a:ext cx="2409140" cy="678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(LiDAR, cameras, radar) processed in-vehicle at sub-10ms. V2X communication via MEC for intersection awareness and cooperative driving.</a:t>
            </a:r>
            <a:endParaRPr lang="en-US" sz="820" dirty="0"/>
          </a:p>
        </p:txBody>
      </p:sp>
      <p:sp>
        <p:nvSpPr>
          <p:cNvPr id="14" name="Text 10"/>
          <p:cNvSpPr/>
          <p:nvPr/>
        </p:nvSpPr>
        <p:spPr>
          <a:xfrm>
            <a:off x="6048077" y="974527"/>
            <a:ext cx="2695873" cy="1589038"/>
          </a:xfrm>
          <a:prstGeom prst="roundRect">
            <a:avLst>
              <a:gd name="adj" fmla="val 5435"/>
            </a:avLst>
          </a:prstGeom>
          <a:solidFill>
            <a:srgbClr val="111827"/>
          </a:solidFill>
          <a:ln w="9525">
            <a:solidFill>
              <a:srgbClr val="FFFFFF">
                <a:alpha val="4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215063" y="1155502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4D399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3020" y="1243459"/>
            <a:ext cx="139005" cy="13900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5063" y="1541413"/>
            <a:ext cx="2598093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960" dirty="0"/>
          </a:p>
        </p:txBody>
      </p:sp>
      <p:sp>
        <p:nvSpPr>
          <p:cNvPr id="18" name="Text 13"/>
          <p:cNvSpPr/>
          <p:nvPr/>
        </p:nvSpPr>
        <p:spPr>
          <a:xfrm>
            <a:off x="6215063" y="1764655"/>
            <a:ext cx="2409140" cy="678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patient monitoring with wearable telemetry. Edge AI for medical imaging analysis (X-ray, CT) enabling faster diagnoses in remote clinics.</a:t>
            </a:r>
            <a:endParaRPr lang="en-US" sz="820" dirty="0"/>
          </a:p>
        </p:txBody>
      </p:sp>
      <p:sp>
        <p:nvSpPr>
          <p:cNvPr id="19" name="Text 14"/>
          <p:cNvSpPr/>
          <p:nvPr/>
        </p:nvSpPr>
        <p:spPr>
          <a:xfrm>
            <a:off x="400050" y="2691705"/>
            <a:ext cx="2695873" cy="1589038"/>
          </a:xfrm>
          <a:prstGeom prst="roundRect">
            <a:avLst>
              <a:gd name="adj" fmla="val 5435"/>
            </a:avLst>
          </a:prstGeom>
          <a:solidFill>
            <a:srgbClr val="111827"/>
          </a:solidFill>
          <a:ln w="9525">
            <a:solidFill>
              <a:srgbClr val="FFFFFF">
                <a:alpha val="4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567035" y="2872680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993" y="2960638"/>
            <a:ext cx="139005" cy="13900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7035" y="3258592"/>
            <a:ext cx="2598093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</a:t>
            </a:r>
            <a:endParaRPr lang="en-US" sz="960" dirty="0"/>
          </a:p>
        </p:txBody>
      </p:sp>
      <p:sp>
        <p:nvSpPr>
          <p:cNvPr id="23" name="Text 17"/>
          <p:cNvSpPr/>
          <p:nvPr/>
        </p:nvSpPr>
        <p:spPr>
          <a:xfrm>
            <a:off x="567035" y="3481834"/>
            <a:ext cx="2409140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 optimization, air quality monitoring, and public safety analytics at street-level edge nodes. Reduces bandwidth to central systems by 90%+.</a:t>
            </a:r>
            <a:endParaRPr lang="en-US" sz="820" dirty="0"/>
          </a:p>
        </p:txBody>
      </p:sp>
      <p:sp>
        <p:nvSpPr>
          <p:cNvPr id="24" name="Text 18"/>
          <p:cNvSpPr/>
          <p:nvPr/>
        </p:nvSpPr>
        <p:spPr>
          <a:xfrm>
            <a:off x="3224064" y="2691705"/>
            <a:ext cx="2695873" cy="1589038"/>
          </a:xfrm>
          <a:prstGeom prst="roundRect">
            <a:avLst>
              <a:gd name="adj" fmla="val 5435"/>
            </a:avLst>
          </a:prstGeom>
          <a:solidFill>
            <a:srgbClr val="111827"/>
          </a:solidFill>
          <a:ln w="9525">
            <a:solidFill>
              <a:srgbClr val="FFFFFF">
                <a:alpha val="4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3391049" y="2872680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B82F6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79006" y="2960638"/>
            <a:ext cx="139005" cy="13900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391049" y="3258592"/>
            <a:ext cx="2598093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Logistics</a:t>
            </a:r>
            <a:endParaRPr lang="en-US" sz="960" dirty="0"/>
          </a:p>
        </p:txBody>
      </p:sp>
      <p:sp>
        <p:nvSpPr>
          <p:cNvPr id="28" name="Text 21"/>
          <p:cNvSpPr/>
          <p:nvPr/>
        </p:nvSpPr>
        <p:spPr>
          <a:xfrm>
            <a:off x="3391049" y="3481834"/>
            <a:ext cx="2409140" cy="678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for inventory tracking, checkout-free stores, and warehouse robotics. Edge inference for real-time demand forecasting at distribution centers.</a:t>
            </a:r>
            <a:endParaRPr lang="en-US" sz="820" dirty="0"/>
          </a:p>
        </p:txBody>
      </p:sp>
      <p:sp>
        <p:nvSpPr>
          <p:cNvPr id="29" name="Text 22"/>
          <p:cNvSpPr/>
          <p:nvPr/>
        </p:nvSpPr>
        <p:spPr>
          <a:xfrm>
            <a:off x="6048077" y="2691705"/>
            <a:ext cx="2695873" cy="1589038"/>
          </a:xfrm>
          <a:prstGeom prst="roundRect">
            <a:avLst>
              <a:gd name="adj" fmla="val 5435"/>
            </a:avLst>
          </a:prstGeom>
          <a:solidFill>
            <a:srgbClr val="111827"/>
          </a:solidFill>
          <a:ln w="9525">
            <a:solidFill>
              <a:srgbClr val="FFFFFF">
                <a:alpha val="4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6215063" y="2872680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EC4899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03020" y="2960638"/>
            <a:ext cx="139005" cy="13900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15063" y="3258592"/>
            <a:ext cx="2598093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AR/VR &amp; Gaming</a:t>
            </a:r>
            <a:endParaRPr lang="en-US" sz="960" dirty="0"/>
          </a:p>
        </p:txBody>
      </p:sp>
      <p:sp>
        <p:nvSpPr>
          <p:cNvPr id="33" name="Text 25"/>
          <p:cNvSpPr/>
          <p:nvPr/>
        </p:nvSpPr>
        <p:spPr>
          <a:xfrm>
            <a:off x="6215063" y="3481834"/>
            <a:ext cx="2409140" cy="678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offload to MEC nodes for mobile AR. Cloud gaming with sub-20ms latency via regional edge compute. Spatial computing with real-time SLAM processing.</a:t>
            </a:r>
            <a:endParaRPr lang="en-US" sz="820" dirty="0"/>
          </a:p>
        </p:txBody>
      </p:sp>
      <p:sp>
        <p:nvSpPr>
          <p:cNvPr id="34" name="Text 26"/>
          <p:cNvSpPr/>
          <p:nvPr/>
        </p:nvSpPr>
        <p:spPr>
          <a:xfrm>
            <a:off x="409575" y="984052"/>
            <a:ext cx="2676820" cy="21580"/>
          </a:xfrm>
          <a:custGeom>
            <a:avLst/>
            <a:gdLst/>
            <a:ahLst/>
            <a:cxnLst/>
            <a:rect l="l" t="t" r="r" b="b"/>
            <a:pathLst>
              <a:path w="2676820" h="21580">
                <a:moveTo>
                  <a:pt x="86360" y="0"/>
                </a:moveTo>
                <a:lnTo>
                  <a:pt x="2590460" y="0"/>
                </a:lnTo>
                <a:lnTo>
                  <a:pt x="2611876" y="2698"/>
                </a:lnTo>
                <a:lnTo>
                  <a:pt x="2620506" y="5395"/>
                </a:lnTo>
                <a:lnTo>
                  <a:pt x="2626960" y="8093"/>
                </a:lnTo>
                <a:lnTo>
                  <a:pt x="2632260" y="10790"/>
                </a:lnTo>
                <a:lnTo>
                  <a:pt x="2636803" y="13488"/>
                </a:lnTo>
                <a:lnTo>
                  <a:pt x="2640794" y="16185"/>
                </a:lnTo>
                <a:lnTo>
                  <a:pt x="2644357" y="18883"/>
                </a:lnTo>
                <a:lnTo>
                  <a:pt x="2647571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3233589" y="984052"/>
            <a:ext cx="2676820" cy="21580"/>
          </a:xfrm>
          <a:custGeom>
            <a:avLst/>
            <a:gdLst/>
            <a:ahLst/>
            <a:cxnLst/>
            <a:rect l="l" t="t" r="r" b="b"/>
            <a:pathLst>
              <a:path w="2676820" h="21580">
                <a:moveTo>
                  <a:pt x="86360" y="0"/>
                </a:moveTo>
                <a:lnTo>
                  <a:pt x="2590460" y="0"/>
                </a:lnTo>
                <a:lnTo>
                  <a:pt x="2611876" y="2698"/>
                </a:lnTo>
                <a:lnTo>
                  <a:pt x="2620506" y="5395"/>
                </a:lnTo>
                <a:lnTo>
                  <a:pt x="2626960" y="8093"/>
                </a:lnTo>
                <a:lnTo>
                  <a:pt x="2632260" y="10790"/>
                </a:lnTo>
                <a:lnTo>
                  <a:pt x="2636803" y="13488"/>
                </a:lnTo>
                <a:lnTo>
                  <a:pt x="2640794" y="16185"/>
                </a:lnTo>
                <a:lnTo>
                  <a:pt x="2644357" y="18883"/>
                </a:lnTo>
                <a:lnTo>
                  <a:pt x="2647571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A78BF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6057602" y="984052"/>
            <a:ext cx="2676820" cy="21580"/>
          </a:xfrm>
          <a:custGeom>
            <a:avLst/>
            <a:gdLst/>
            <a:ahLst/>
            <a:cxnLst/>
            <a:rect l="l" t="t" r="r" b="b"/>
            <a:pathLst>
              <a:path w="2676820" h="21580">
                <a:moveTo>
                  <a:pt x="86360" y="0"/>
                </a:moveTo>
                <a:lnTo>
                  <a:pt x="2590460" y="0"/>
                </a:lnTo>
                <a:lnTo>
                  <a:pt x="2611876" y="2698"/>
                </a:lnTo>
                <a:lnTo>
                  <a:pt x="2620506" y="5395"/>
                </a:lnTo>
                <a:lnTo>
                  <a:pt x="2626960" y="8093"/>
                </a:lnTo>
                <a:lnTo>
                  <a:pt x="2632260" y="10790"/>
                </a:lnTo>
                <a:lnTo>
                  <a:pt x="2636803" y="13488"/>
                </a:lnTo>
                <a:lnTo>
                  <a:pt x="2640794" y="16185"/>
                </a:lnTo>
                <a:lnTo>
                  <a:pt x="2644357" y="18883"/>
                </a:lnTo>
                <a:lnTo>
                  <a:pt x="2647571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409575" y="2701230"/>
            <a:ext cx="2676820" cy="21580"/>
          </a:xfrm>
          <a:custGeom>
            <a:avLst/>
            <a:gdLst/>
            <a:ahLst/>
            <a:cxnLst/>
            <a:rect l="l" t="t" r="r" b="b"/>
            <a:pathLst>
              <a:path w="2676820" h="21580">
                <a:moveTo>
                  <a:pt x="86360" y="0"/>
                </a:moveTo>
                <a:lnTo>
                  <a:pt x="2590460" y="0"/>
                </a:lnTo>
                <a:lnTo>
                  <a:pt x="2611876" y="2698"/>
                </a:lnTo>
                <a:lnTo>
                  <a:pt x="2620506" y="5395"/>
                </a:lnTo>
                <a:lnTo>
                  <a:pt x="2626960" y="8093"/>
                </a:lnTo>
                <a:lnTo>
                  <a:pt x="2632260" y="10790"/>
                </a:lnTo>
                <a:lnTo>
                  <a:pt x="2636803" y="13488"/>
                </a:lnTo>
                <a:lnTo>
                  <a:pt x="2640794" y="16185"/>
                </a:lnTo>
                <a:lnTo>
                  <a:pt x="2644357" y="18883"/>
                </a:lnTo>
                <a:lnTo>
                  <a:pt x="2647571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3233589" y="2701230"/>
            <a:ext cx="2676820" cy="21580"/>
          </a:xfrm>
          <a:custGeom>
            <a:avLst/>
            <a:gdLst/>
            <a:ahLst/>
            <a:cxnLst/>
            <a:rect l="l" t="t" r="r" b="b"/>
            <a:pathLst>
              <a:path w="2676820" h="21580">
                <a:moveTo>
                  <a:pt x="86360" y="0"/>
                </a:moveTo>
                <a:lnTo>
                  <a:pt x="2590460" y="0"/>
                </a:lnTo>
                <a:lnTo>
                  <a:pt x="2611876" y="2698"/>
                </a:lnTo>
                <a:lnTo>
                  <a:pt x="2620506" y="5395"/>
                </a:lnTo>
                <a:lnTo>
                  <a:pt x="2626960" y="8093"/>
                </a:lnTo>
                <a:lnTo>
                  <a:pt x="2632260" y="10790"/>
                </a:lnTo>
                <a:lnTo>
                  <a:pt x="2636803" y="13488"/>
                </a:lnTo>
                <a:lnTo>
                  <a:pt x="2640794" y="16185"/>
                </a:lnTo>
                <a:lnTo>
                  <a:pt x="2644357" y="18883"/>
                </a:lnTo>
                <a:lnTo>
                  <a:pt x="2647571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6057602" y="2701230"/>
            <a:ext cx="2676820" cy="21580"/>
          </a:xfrm>
          <a:custGeom>
            <a:avLst/>
            <a:gdLst/>
            <a:ahLst/>
            <a:cxnLst/>
            <a:rect l="l" t="t" r="r" b="b"/>
            <a:pathLst>
              <a:path w="2676820" h="21580">
                <a:moveTo>
                  <a:pt x="86360" y="0"/>
                </a:moveTo>
                <a:lnTo>
                  <a:pt x="2590460" y="0"/>
                </a:lnTo>
                <a:lnTo>
                  <a:pt x="2611876" y="2698"/>
                </a:lnTo>
                <a:lnTo>
                  <a:pt x="2620506" y="5395"/>
                </a:lnTo>
                <a:lnTo>
                  <a:pt x="2626960" y="8093"/>
                </a:lnTo>
                <a:lnTo>
                  <a:pt x="2632260" y="10790"/>
                </a:lnTo>
                <a:lnTo>
                  <a:pt x="2636803" y="13488"/>
                </a:lnTo>
                <a:lnTo>
                  <a:pt x="2640794" y="16185"/>
                </a:lnTo>
                <a:lnTo>
                  <a:pt x="2644357" y="18883"/>
                </a:lnTo>
                <a:lnTo>
                  <a:pt x="2647571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EC48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25053"/>
            <a:ext cx="35421" cy="257770"/>
          </a:xfrm>
          <a:prstGeom prst="roundRect">
            <a:avLst>
              <a:gd name="adj" fmla="val 60953"/>
            </a:avLst>
          </a:prstGeom>
          <a:solidFill>
            <a:srgbClr val="06B6D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4071" y="372070"/>
            <a:ext cx="3106573" cy="363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865"/>
              </a:lnSpc>
              <a:buNone/>
            </a:pPr>
            <a:r>
              <a:rPr lang="en-US" sz="1910" b="1" spc="-30" kern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Edge-Native Development</a:t>
            </a:r>
            <a:endParaRPr lang="en-US" sz="1910" dirty="0"/>
          </a:p>
        </p:txBody>
      </p:sp>
      <p:sp>
        <p:nvSpPr>
          <p:cNvPr id="4" name="Text 2"/>
          <p:cNvSpPr/>
          <p:nvPr/>
        </p:nvSpPr>
        <p:spPr>
          <a:xfrm>
            <a:off x="514350" y="993725"/>
            <a:ext cx="8115300" cy="629841"/>
          </a:xfrm>
          <a:prstGeom prst="roundRect">
            <a:avLst>
              <a:gd name="adj" fmla="val 11292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4970" y="1137196"/>
            <a:ext cx="29170" cy="342900"/>
          </a:xfrm>
          <a:prstGeom prst="roundRect">
            <a:avLst>
              <a:gd name="adj" fmla="val 100137"/>
            </a:avLst>
          </a:prstGeom>
          <a:solidFill>
            <a:srgbClr val="06B6D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7611" y="1137940"/>
            <a:ext cx="467542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1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Containers</a:t>
            </a:r>
            <a:endParaRPr lang="en-US" sz="1010" dirty="0"/>
          </a:p>
        </p:txBody>
      </p:sp>
      <p:sp>
        <p:nvSpPr>
          <p:cNvPr id="7" name="Text 5"/>
          <p:cNvSpPr/>
          <p:nvPr/>
        </p:nvSpPr>
        <p:spPr>
          <a:xfrm>
            <a:off x="887611" y="1333798"/>
            <a:ext cx="4675421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with Alpine/distroless images (&lt;100MB), multi-arch builds via Buildx for ARM64 and x86.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14350" y="1737866"/>
            <a:ext cx="8115300" cy="629841"/>
          </a:xfrm>
          <a:prstGeom prst="roundRect">
            <a:avLst>
              <a:gd name="adj" fmla="val 11292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4970" y="1881336"/>
            <a:ext cx="29170" cy="342900"/>
          </a:xfrm>
          <a:prstGeom prst="roundRect">
            <a:avLst>
              <a:gd name="adj" fmla="val 100137"/>
            </a:avLst>
          </a:prstGeom>
          <a:solidFill>
            <a:srgbClr val="A78B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87611" y="1882080"/>
            <a:ext cx="473975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1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Fleet Management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887611" y="2077938"/>
            <a:ext cx="4739759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config in Git synced to edge clusters via FluxCD or ArgoCD with automated rollbacks.</a:t>
            </a:r>
            <a:endParaRPr lang="en-US" sz="790" dirty="0"/>
          </a:p>
        </p:txBody>
      </p:sp>
      <p:sp>
        <p:nvSpPr>
          <p:cNvPr id="12" name="Text 10"/>
          <p:cNvSpPr/>
          <p:nvPr/>
        </p:nvSpPr>
        <p:spPr>
          <a:xfrm>
            <a:off x="514350" y="2482007"/>
            <a:ext cx="8115300" cy="629841"/>
          </a:xfrm>
          <a:prstGeom prst="roundRect">
            <a:avLst>
              <a:gd name="adj" fmla="val 11292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4970" y="2625477"/>
            <a:ext cx="29170" cy="342900"/>
          </a:xfrm>
          <a:prstGeom prst="roundRect">
            <a:avLst>
              <a:gd name="adj" fmla="val 100137"/>
            </a:avLst>
          </a:prstGeom>
          <a:solidFill>
            <a:srgbClr val="34D39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87611" y="2626221"/>
            <a:ext cx="518750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1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Updates</a:t>
            </a:r>
            <a:endParaRPr lang="en-US" sz="1010" dirty="0"/>
          </a:p>
        </p:txBody>
      </p:sp>
      <p:sp>
        <p:nvSpPr>
          <p:cNvPr id="15" name="Text 13"/>
          <p:cNvSpPr/>
          <p:nvPr/>
        </p:nvSpPr>
        <p:spPr>
          <a:xfrm>
            <a:off x="887611" y="2822079"/>
            <a:ext cx="5187508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firmware and container updates via Mender or balenaCloud with delta updates and canary rollouts.</a:t>
            </a:r>
            <a:endParaRPr lang="en-US" sz="790" dirty="0"/>
          </a:p>
        </p:txBody>
      </p:sp>
      <p:sp>
        <p:nvSpPr>
          <p:cNvPr id="16" name="Text 14"/>
          <p:cNvSpPr/>
          <p:nvPr/>
        </p:nvSpPr>
        <p:spPr>
          <a:xfrm>
            <a:off x="514350" y="3226147"/>
            <a:ext cx="8115300" cy="629841"/>
          </a:xfrm>
          <a:prstGeom prst="roundRect">
            <a:avLst>
              <a:gd name="adj" fmla="val 11292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14970" y="3369618"/>
            <a:ext cx="29170" cy="342900"/>
          </a:xfrm>
          <a:prstGeom prst="roundRect">
            <a:avLst>
              <a:gd name="adj" fmla="val 100137"/>
            </a:avLst>
          </a:prstGeom>
          <a:solidFill>
            <a:srgbClr val="F59E0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87611" y="3370362"/>
            <a:ext cx="47150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1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Architecture</a:t>
            </a:r>
            <a:endParaRPr lang="en-US" sz="1010" dirty="0"/>
          </a:p>
        </p:txBody>
      </p:sp>
      <p:sp>
        <p:nvSpPr>
          <p:cNvPr id="19" name="Text 17"/>
          <p:cNvSpPr/>
          <p:nvPr/>
        </p:nvSpPr>
        <p:spPr>
          <a:xfrm>
            <a:off x="887611" y="3566220"/>
            <a:ext cx="4715039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data with SQLite/LevelDB, store-and-forward messaging, CRDTs for conflict-free sync.</a:t>
            </a:r>
            <a:endParaRPr lang="en-US" sz="790" dirty="0"/>
          </a:p>
        </p:txBody>
      </p:sp>
      <p:sp>
        <p:nvSpPr>
          <p:cNvPr id="20" name="Text 18"/>
          <p:cNvSpPr/>
          <p:nvPr/>
        </p:nvSpPr>
        <p:spPr>
          <a:xfrm>
            <a:off x="514350" y="3970288"/>
            <a:ext cx="8115300" cy="629841"/>
          </a:xfrm>
          <a:prstGeom prst="roundRect">
            <a:avLst>
              <a:gd name="adj" fmla="val 11292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14970" y="4113758"/>
            <a:ext cx="29170" cy="342900"/>
          </a:xfrm>
          <a:prstGeom prst="roundRect">
            <a:avLst>
              <a:gd name="adj" fmla="val 100137"/>
            </a:avLst>
          </a:prstGeom>
          <a:solidFill>
            <a:srgbClr val="EF444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87611" y="4114502"/>
            <a:ext cx="538936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1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Observability</a:t>
            </a:r>
            <a:endParaRPr lang="en-US" sz="1010" dirty="0"/>
          </a:p>
        </p:txBody>
      </p:sp>
      <p:sp>
        <p:nvSpPr>
          <p:cNvPr id="23" name="Text 21"/>
          <p:cNvSpPr/>
          <p:nvPr/>
        </p:nvSpPr>
        <p:spPr>
          <a:xfrm>
            <a:off x="887611" y="4310360"/>
            <a:ext cx="5389364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Prometheus exporters and Grafana Alloy for metrics, logs, and traces with centralized dashboards.</a:t>
            </a:r>
            <a:endParaRPr lang="en-US" sz="7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8765" y="1928515"/>
            <a:ext cx="1286470" cy="1286470"/>
          </a:xfrm>
          <a:prstGeom prst="ellipse">
            <a:avLst/>
          </a:prstGeom>
          <a:gradFill rotWithShape="1">
            <a:gsLst>
              <a:gs pos="0">
                <a:srgbClr val="06B6D4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121920"/>
            <a:ext cx="9144000" cy="21580"/>
          </a:xfrm>
          <a:prstGeom prst="rect">
            <a:avLst/>
          </a:prstGeom>
          <a:gradFill rotWithShape="1">
            <a:gsLst>
              <a:gs pos="0">
                <a:srgbClr val="EF4444"/>
              </a:gs>
              <a:gs pos="30000">
                <a:srgbClr val="000000">
                  <a:alpha val="0"/>
                </a:srgbClr>
              </a:gs>
              <a:gs pos="70000">
                <a:srgbClr val="000000">
                  <a:alpha val="0"/>
                </a:srgbClr>
              </a:gs>
              <a:gs pos="100000">
                <a:srgbClr val="34D39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364778"/>
            <a:ext cx="342900" cy="342900"/>
          </a:xfrm>
          <a:prstGeom prst="roundRect">
            <a:avLst>
              <a:gd name="adj" fmla="val 25185"/>
            </a:avLst>
          </a:prstGeom>
          <a:gradFill rotWithShape="1">
            <a:gsLst>
              <a:gs pos="0">
                <a:srgbClr val="06B6D4">
                  <a:alpha val="15000"/>
                </a:srgbClr>
              </a:gs>
              <a:gs pos="100000">
                <a:srgbClr val="06B6D4">
                  <a:alpha val="5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93" y="460921"/>
            <a:ext cx="150465" cy="1504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250" y="342900"/>
            <a:ext cx="2594915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030" b="1" spc="-2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at the Edge</a:t>
            </a:r>
            <a:endParaRPr lang="en-US" sz="2030" dirty="0"/>
          </a:p>
        </p:txBody>
      </p:sp>
      <p:sp>
        <p:nvSpPr>
          <p:cNvPr id="7" name="Text 4"/>
          <p:cNvSpPr/>
          <p:nvPr/>
        </p:nvSpPr>
        <p:spPr>
          <a:xfrm>
            <a:off x="400050" y="1216372"/>
            <a:ext cx="3936355" cy="19050"/>
          </a:xfrm>
          <a:prstGeom prst="rect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557" y="971410"/>
            <a:ext cx="132588" cy="132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8644" y="930176"/>
            <a:ext cx="1597164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Challenges</a:t>
            </a:r>
            <a:endParaRPr lang="en-US" sz="1130" dirty="0"/>
          </a:p>
        </p:txBody>
      </p:sp>
      <p:sp>
        <p:nvSpPr>
          <p:cNvPr id="10" name="Text 6"/>
          <p:cNvSpPr/>
          <p:nvPr/>
        </p:nvSpPr>
        <p:spPr>
          <a:xfrm>
            <a:off x="400050" y="1307753"/>
            <a:ext cx="3936355" cy="679996"/>
          </a:xfrm>
          <a:prstGeom prst="roundRect">
            <a:avLst>
              <a:gd name="adj" fmla="val 10459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28191" y="1408063"/>
            <a:ext cx="257770" cy="257770"/>
          </a:xfrm>
          <a:prstGeom prst="ellipse">
            <a:avLst/>
          </a:prstGeom>
          <a:solidFill>
            <a:srgbClr val="EF4444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0782" y="1470654"/>
            <a:ext cx="132588" cy="132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86271" y="1408063"/>
            <a:ext cx="3654192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Exposure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886271" y="1578173"/>
            <a:ext cx="3388432" cy="324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devices deployed in uncontrolled environments are vulnerable to tampering and theft</a:t>
            </a:r>
            <a:endParaRPr lang="en-US" sz="840" dirty="0"/>
          </a:p>
        </p:txBody>
      </p:sp>
      <p:sp>
        <p:nvSpPr>
          <p:cNvPr id="15" name="Text 10"/>
          <p:cNvSpPr/>
          <p:nvPr/>
        </p:nvSpPr>
        <p:spPr>
          <a:xfrm>
            <a:off x="400050" y="2074069"/>
            <a:ext cx="3936355" cy="679996"/>
          </a:xfrm>
          <a:prstGeom prst="roundRect">
            <a:avLst>
              <a:gd name="adj" fmla="val 10459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528191" y="2174379"/>
            <a:ext cx="257770" cy="257770"/>
          </a:xfrm>
          <a:prstGeom prst="ellipse">
            <a:avLst/>
          </a:prstGeom>
          <a:solidFill>
            <a:srgbClr val="EF4444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782" y="2236970"/>
            <a:ext cx="132588" cy="1325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6271" y="2174379"/>
            <a:ext cx="3654192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Attack Surface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886271" y="2344489"/>
            <a:ext cx="3388432" cy="324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distributed nodes multiply entry points for DDoS, firmware exploits, and supply chain attacks</a:t>
            </a:r>
            <a:endParaRPr lang="en-US" sz="840" dirty="0"/>
          </a:p>
        </p:txBody>
      </p:sp>
      <p:sp>
        <p:nvSpPr>
          <p:cNvPr id="20" name="Text 14"/>
          <p:cNvSpPr/>
          <p:nvPr/>
        </p:nvSpPr>
        <p:spPr>
          <a:xfrm>
            <a:off x="400050" y="2840385"/>
            <a:ext cx="3936355" cy="679996"/>
          </a:xfrm>
          <a:prstGeom prst="roundRect">
            <a:avLst>
              <a:gd name="adj" fmla="val 10459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528191" y="2940695"/>
            <a:ext cx="257770" cy="257770"/>
          </a:xfrm>
          <a:prstGeom prst="ellipse">
            <a:avLst/>
          </a:prstGeom>
          <a:solidFill>
            <a:srgbClr val="EF4444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0782" y="3003286"/>
            <a:ext cx="132588" cy="132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86271" y="2940695"/>
            <a:ext cx="3654192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Constraints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886271" y="3110805"/>
            <a:ext cx="3388432" cy="324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CPU/memory restricts use of traditional security agents and full encryption stacks</a:t>
            </a:r>
            <a:endParaRPr lang="en-US" sz="840" dirty="0"/>
          </a:p>
        </p:txBody>
      </p:sp>
      <p:sp>
        <p:nvSpPr>
          <p:cNvPr id="25" name="Text 18"/>
          <p:cNvSpPr/>
          <p:nvPr/>
        </p:nvSpPr>
        <p:spPr>
          <a:xfrm>
            <a:off x="400050" y="3606701"/>
            <a:ext cx="3936355" cy="679996"/>
          </a:xfrm>
          <a:prstGeom prst="roundRect">
            <a:avLst>
              <a:gd name="adj" fmla="val 10459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528191" y="3707011"/>
            <a:ext cx="257770" cy="257770"/>
          </a:xfrm>
          <a:prstGeom prst="ellipse">
            <a:avLst/>
          </a:prstGeom>
          <a:solidFill>
            <a:srgbClr val="EF4444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0782" y="3769602"/>
            <a:ext cx="132588" cy="13258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86271" y="3707011"/>
            <a:ext cx="3654192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Complexity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886271" y="3877121"/>
            <a:ext cx="3388432" cy="324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hundreds of heterogeneous devices across unreliable networks is operationally challenging</a:t>
            </a:r>
            <a:endParaRPr lang="en-US" sz="840" dirty="0"/>
          </a:p>
        </p:txBody>
      </p:sp>
      <p:sp>
        <p:nvSpPr>
          <p:cNvPr id="30" name="Text 22"/>
          <p:cNvSpPr/>
          <p:nvPr/>
        </p:nvSpPr>
        <p:spPr>
          <a:xfrm>
            <a:off x="4565005" y="930176"/>
            <a:ext cx="13841" cy="3927574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15000">
                <a:srgbClr val="FFFFFF">
                  <a:alpha val="6000"/>
                </a:srgbClr>
              </a:gs>
              <a:gs pos="50000">
                <a:srgbClr val="FFFFFF">
                  <a:alpha val="8000"/>
                </a:srgbClr>
              </a:gs>
              <a:gs pos="85000">
                <a:srgbClr val="FFFFFF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4807446" y="1216372"/>
            <a:ext cx="3936504" cy="19050"/>
          </a:xfrm>
          <a:prstGeom prst="rect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94953" y="971410"/>
            <a:ext cx="132588" cy="13258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986040" y="930176"/>
            <a:ext cx="1592744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Mitigations</a:t>
            </a:r>
            <a:endParaRPr lang="en-US" sz="1130" dirty="0"/>
          </a:p>
        </p:txBody>
      </p:sp>
      <p:sp>
        <p:nvSpPr>
          <p:cNvPr id="34" name="Text 25"/>
          <p:cNvSpPr/>
          <p:nvPr/>
        </p:nvSpPr>
        <p:spPr>
          <a:xfrm>
            <a:off x="4807446" y="1307753"/>
            <a:ext cx="3936504" cy="679996"/>
          </a:xfrm>
          <a:prstGeom prst="roundRect">
            <a:avLst>
              <a:gd name="adj" fmla="val 10459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6"/>
          <p:cNvSpPr/>
          <p:nvPr/>
        </p:nvSpPr>
        <p:spPr>
          <a:xfrm>
            <a:off x="4935587" y="1408063"/>
            <a:ext cx="257770" cy="257770"/>
          </a:xfrm>
          <a:prstGeom prst="ellipse">
            <a:avLst/>
          </a:prstGeom>
          <a:solidFill>
            <a:srgbClr val="34D399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98178" y="1470654"/>
            <a:ext cx="132588" cy="13258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293668" y="1408063"/>
            <a:ext cx="365435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Root of Trust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5293668" y="1578173"/>
            <a:ext cx="3388584" cy="324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 2.0, secure boot, and hardware security modules (HSMs) for key storage and attestation</a:t>
            </a:r>
            <a:endParaRPr lang="en-US" sz="840" dirty="0"/>
          </a:p>
        </p:txBody>
      </p:sp>
      <p:sp>
        <p:nvSpPr>
          <p:cNvPr id="39" name="Text 29"/>
          <p:cNvSpPr/>
          <p:nvPr/>
        </p:nvSpPr>
        <p:spPr>
          <a:xfrm>
            <a:off x="4807446" y="2074069"/>
            <a:ext cx="3936504" cy="679996"/>
          </a:xfrm>
          <a:prstGeom prst="roundRect">
            <a:avLst>
              <a:gd name="adj" fmla="val 10459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0"/>
          <p:cNvSpPr/>
          <p:nvPr/>
        </p:nvSpPr>
        <p:spPr>
          <a:xfrm>
            <a:off x="4935587" y="2174379"/>
            <a:ext cx="257770" cy="257770"/>
          </a:xfrm>
          <a:prstGeom prst="ellipse">
            <a:avLst/>
          </a:prstGeom>
          <a:solidFill>
            <a:srgbClr val="34D399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98178" y="2236970"/>
            <a:ext cx="132588" cy="132588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5293668" y="2174379"/>
            <a:ext cx="365435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Architecture</a:t>
            </a:r>
            <a:endParaRPr lang="en-US" sz="900" dirty="0"/>
          </a:p>
        </p:txBody>
      </p:sp>
      <p:sp>
        <p:nvSpPr>
          <p:cNvPr id="43" name="Text 32"/>
          <p:cNvSpPr/>
          <p:nvPr/>
        </p:nvSpPr>
        <p:spPr>
          <a:xfrm>
            <a:off x="5293668" y="2344489"/>
            <a:ext cx="3388584" cy="324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TLS (mTLS), certificate-based device identity, and micro-segmentation with network policies</a:t>
            </a:r>
            <a:endParaRPr lang="en-US" sz="840" dirty="0"/>
          </a:p>
        </p:txBody>
      </p:sp>
      <p:sp>
        <p:nvSpPr>
          <p:cNvPr id="44" name="Text 33"/>
          <p:cNvSpPr/>
          <p:nvPr/>
        </p:nvSpPr>
        <p:spPr>
          <a:xfrm>
            <a:off x="4807446" y="2840385"/>
            <a:ext cx="3936504" cy="679996"/>
          </a:xfrm>
          <a:prstGeom prst="roundRect">
            <a:avLst>
              <a:gd name="adj" fmla="val 10459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4"/>
          <p:cNvSpPr/>
          <p:nvPr/>
        </p:nvSpPr>
        <p:spPr>
          <a:xfrm>
            <a:off x="4935587" y="2940695"/>
            <a:ext cx="257770" cy="257770"/>
          </a:xfrm>
          <a:prstGeom prst="ellipse">
            <a:avLst/>
          </a:prstGeom>
          <a:solidFill>
            <a:srgbClr val="34D399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998178" y="3003286"/>
            <a:ext cx="132588" cy="13258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5293668" y="2940695"/>
            <a:ext cx="365435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900" dirty="0"/>
          </a:p>
        </p:txBody>
      </p:sp>
      <p:sp>
        <p:nvSpPr>
          <p:cNvPr id="48" name="Text 36"/>
          <p:cNvSpPr/>
          <p:nvPr/>
        </p:nvSpPr>
        <p:spPr>
          <a:xfrm>
            <a:off x="5293668" y="3110805"/>
            <a:ext cx="3388584" cy="324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Vault, AWS IoT credential provider, or SOPS for encrypted configuration at the edge</a:t>
            </a:r>
            <a:endParaRPr lang="en-US" sz="840" dirty="0"/>
          </a:p>
        </p:txBody>
      </p:sp>
      <p:sp>
        <p:nvSpPr>
          <p:cNvPr id="49" name="Text 37"/>
          <p:cNvSpPr/>
          <p:nvPr/>
        </p:nvSpPr>
        <p:spPr>
          <a:xfrm>
            <a:off x="4807446" y="3606701"/>
            <a:ext cx="3936504" cy="679996"/>
          </a:xfrm>
          <a:prstGeom prst="roundRect">
            <a:avLst>
              <a:gd name="adj" fmla="val 10459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38"/>
          <p:cNvSpPr/>
          <p:nvPr/>
        </p:nvSpPr>
        <p:spPr>
          <a:xfrm>
            <a:off x="4935587" y="3707011"/>
            <a:ext cx="257770" cy="257770"/>
          </a:xfrm>
          <a:prstGeom prst="ellipse">
            <a:avLst/>
          </a:prstGeom>
          <a:solidFill>
            <a:srgbClr val="34D399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998178" y="3769602"/>
            <a:ext cx="132588" cy="132588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5293668" y="3707011"/>
            <a:ext cx="365435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Compliance</a:t>
            </a:r>
            <a:endParaRPr lang="en-US" sz="900" dirty="0"/>
          </a:p>
        </p:txBody>
      </p:sp>
      <p:sp>
        <p:nvSpPr>
          <p:cNvPr id="53" name="Text 40"/>
          <p:cNvSpPr/>
          <p:nvPr/>
        </p:nvSpPr>
        <p:spPr>
          <a:xfrm>
            <a:off x="5293668" y="3877121"/>
            <a:ext cx="3388584" cy="324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(OPA/Gatekeeper), automated CVE scanning, and audit logging to central SIEM (Splunk, Elastic)</a:t>
            </a:r>
            <a:endParaRPr lang="en-US" sz="8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805672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030" b="1" spc="-2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Benefits of Edge Computing</a:t>
            </a:r>
            <a:endParaRPr lang="en-US" sz="2030" dirty="0"/>
          </a:p>
        </p:txBody>
      </p:sp>
      <p:sp>
        <p:nvSpPr>
          <p:cNvPr id="3" name="Text 1"/>
          <p:cNvSpPr/>
          <p:nvPr/>
        </p:nvSpPr>
        <p:spPr>
          <a:xfrm>
            <a:off x="457200" y="815876"/>
            <a:ext cx="400050" cy="29170"/>
          </a:xfrm>
          <a:prstGeom prst="roundRect">
            <a:avLst>
              <a:gd name="adj" fmla="val 47892"/>
            </a:avLst>
          </a:prstGeom>
          <a:solidFill>
            <a:srgbClr val="06B6D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45666"/>
            <a:ext cx="2647504" cy="1819721"/>
          </a:xfrm>
          <a:prstGeom prst="roundRect">
            <a:avLst>
              <a:gd name="adj" fmla="val 4746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" y="1246287"/>
            <a:ext cx="1018409" cy="346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8"/>
              </a:lnSpc>
              <a:buNone/>
            </a:pPr>
            <a:r>
              <a:rPr lang="en-US" sz="2480" b="1" spc="-30" kern="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&lt;10ms</a:t>
            </a:r>
            <a:endParaRPr lang="en-US" sz="2480" dirty="0"/>
          </a:p>
        </p:txBody>
      </p:sp>
      <p:sp>
        <p:nvSpPr>
          <p:cNvPr id="6" name="Text 4"/>
          <p:cNvSpPr/>
          <p:nvPr/>
        </p:nvSpPr>
        <p:spPr>
          <a:xfrm>
            <a:off x="628650" y="1649760"/>
            <a:ext cx="15374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70" kern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 LATENCY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8650" y="1878360"/>
            <a:ext cx="2350696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processing eliminates cloud round-trip delays for real-time applications</a:t>
            </a:r>
            <a:endParaRPr lang="en-US" sz="82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7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47504" y="2422178"/>
            <a:ext cx="342900" cy="342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48174" y="1045666"/>
            <a:ext cx="2647504" cy="1819721"/>
          </a:xfrm>
          <a:prstGeom prst="roundRect">
            <a:avLst>
              <a:gd name="adj" fmla="val 4746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419624" y="1246287"/>
            <a:ext cx="838542" cy="346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8"/>
              </a:lnSpc>
              <a:buNone/>
            </a:pPr>
            <a:r>
              <a:rPr lang="en-US" sz="2480" b="1" spc="-30" kern="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90%+</a:t>
            </a:r>
            <a:endParaRPr lang="en-US" sz="2480" dirty="0"/>
          </a:p>
        </p:txBody>
      </p:sp>
      <p:sp>
        <p:nvSpPr>
          <p:cNvPr id="11" name="Text 8"/>
          <p:cNvSpPr/>
          <p:nvPr/>
        </p:nvSpPr>
        <p:spPr>
          <a:xfrm>
            <a:off x="3419624" y="1649760"/>
            <a:ext cx="174335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70" kern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REDUCTION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419624" y="1878360"/>
            <a:ext cx="2350696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and filter data locally — transmit only actionable insights upstream</a:t>
            </a:r>
            <a:endParaRPr lang="en-US" sz="82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alphaModFix amt="7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38477" y="2422178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39148" y="1045666"/>
            <a:ext cx="2647652" cy="1819721"/>
          </a:xfrm>
          <a:prstGeom prst="roundRect">
            <a:avLst>
              <a:gd name="adj" fmla="val 4746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210598" y="1246287"/>
            <a:ext cx="1097012" cy="346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8"/>
              </a:lnSpc>
              <a:buNone/>
            </a:pPr>
            <a:r>
              <a:rPr lang="en-US" sz="2480" b="1" spc="-30" kern="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99.99%</a:t>
            </a:r>
            <a:endParaRPr lang="en-US" sz="2480" dirty="0"/>
          </a:p>
        </p:txBody>
      </p:sp>
      <p:sp>
        <p:nvSpPr>
          <p:cNvPr id="16" name="Text 12"/>
          <p:cNvSpPr/>
          <p:nvPr/>
        </p:nvSpPr>
        <p:spPr>
          <a:xfrm>
            <a:off x="6210598" y="1649760"/>
            <a:ext cx="96491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70" kern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210598" y="1878360"/>
            <a:ext cx="2350847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edge operation ensures uptime even during network outages</a:t>
            </a:r>
            <a:endParaRPr lang="en-US" sz="82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alphaModFix amt="7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0" y="2422178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7200" y="3008858"/>
            <a:ext cx="2647504" cy="1819721"/>
          </a:xfrm>
          <a:prstGeom prst="roundRect">
            <a:avLst>
              <a:gd name="adj" fmla="val 4746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28650" y="3209479"/>
            <a:ext cx="1115296" cy="346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8"/>
              </a:lnSpc>
              <a:buNone/>
            </a:pPr>
            <a:r>
              <a:rPr lang="en-US" sz="2480" b="1" spc="-30" kern="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40‑60%</a:t>
            </a:r>
            <a:endParaRPr lang="en-US" sz="2480" dirty="0"/>
          </a:p>
        </p:txBody>
      </p:sp>
      <p:sp>
        <p:nvSpPr>
          <p:cNvPr id="21" name="Text 16"/>
          <p:cNvSpPr/>
          <p:nvPr/>
        </p:nvSpPr>
        <p:spPr>
          <a:xfrm>
            <a:off x="628650" y="3612952"/>
            <a:ext cx="10582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70" kern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28650" y="3841552"/>
            <a:ext cx="2350696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cloud egress, storage, and compute costs by processing at the source</a:t>
            </a:r>
            <a:endParaRPr lang="en-US" sz="82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alphaModFix amt="7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47504" y="4385370"/>
            <a:ext cx="342900" cy="3429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248174" y="3008858"/>
            <a:ext cx="2647504" cy="1819721"/>
          </a:xfrm>
          <a:prstGeom prst="roundRect">
            <a:avLst>
              <a:gd name="adj" fmla="val 4746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3419624" y="3209479"/>
            <a:ext cx="1537692" cy="346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8"/>
              </a:lnSpc>
              <a:buNone/>
            </a:pPr>
            <a:r>
              <a:rPr lang="en-US" sz="2480" b="1" spc="-30" kern="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</a:t>
            </a:r>
            <a:endParaRPr lang="en-US" sz="2480" dirty="0"/>
          </a:p>
        </p:txBody>
      </p:sp>
      <p:sp>
        <p:nvSpPr>
          <p:cNvPr id="26" name="Text 20"/>
          <p:cNvSpPr/>
          <p:nvPr/>
        </p:nvSpPr>
        <p:spPr>
          <a:xfrm>
            <a:off x="3419624" y="3612952"/>
            <a:ext cx="10045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70" kern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INFERENCE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3419624" y="3841552"/>
            <a:ext cx="2350696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ML models on edge GPUs/TPUs for instant decisions without cloud dependency</a:t>
            </a:r>
            <a:endParaRPr lang="en-US" sz="82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alphaModFix amt="7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38477" y="4385370"/>
            <a:ext cx="342900" cy="3429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039148" y="3008858"/>
            <a:ext cx="2647652" cy="1819721"/>
          </a:xfrm>
          <a:prstGeom prst="roundRect">
            <a:avLst>
              <a:gd name="adj" fmla="val 4746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6210598" y="3209479"/>
            <a:ext cx="843230" cy="346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8"/>
              </a:lnSpc>
              <a:buNone/>
            </a:pPr>
            <a:r>
              <a:rPr lang="en-US" sz="2480" b="1" spc="-30" kern="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</a:t>
            </a:r>
            <a:endParaRPr lang="en-US" sz="2480" dirty="0"/>
          </a:p>
        </p:txBody>
      </p:sp>
      <p:sp>
        <p:nvSpPr>
          <p:cNvPr id="31" name="Text 24"/>
          <p:cNvSpPr/>
          <p:nvPr/>
        </p:nvSpPr>
        <p:spPr>
          <a:xfrm>
            <a:off x="6210598" y="3612952"/>
            <a:ext cx="10277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70" kern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210598" y="3841552"/>
            <a:ext cx="2350847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82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stays on-premises, simplifying GDPR, HIPAA, and data residency compliance</a:t>
            </a:r>
            <a:endParaRPr lang="en-US" sz="82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>
            <a:alphaModFix amt="7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29600" y="4385370"/>
            <a:ext cx="342900" cy="3429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57200" y="1045666"/>
            <a:ext cx="2647502" cy="21580"/>
          </a:xfrm>
          <a:custGeom>
            <a:avLst/>
            <a:gdLst/>
            <a:ahLst/>
            <a:cxnLst/>
            <a:rect l="l" t="t" r="r" b="b"/>
            <a:pathLst>
              <a:path w="2647502" h="21580">
                <a:moveTo>
                  <a:pt x="86360" y="0"/>
                </a:moveTo>
                <a:lnTo>
                  <a:pt x="2561142" y="0"/>
                </a:lnTo>
                <a:lnTo>
                  <a:pt x="2582558" y="2698"/>
                </a:lnTo>
                <a:lnTo>
                  <a:pt x="2591188" y="5395"/>
                </a:lnTo>
                <a:lnTo>
                  <a:pt x="2597642" y="8093"/>
                </a:lnTo>
                <a:lnTo>
                  <a:pt x="2602942" y="10790"/>
                </a:lnTo>
                <a:lnTo>
                  <a:pt x="2607485" y="13488"/>
                </a:lnTo>
                <a:lnTo>
                  <a:pt x="2611476" y="16185"/>
                </a:lnTo>
                <a:lnTo>
                  <a:pt x="2615039" y="18883"/>
                </a:lnTo>
                <a:lnTo>
                  <a:pt x="261825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06B6D4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3248174" y="1045666"/>
            <a:ext cx="2647502" cy="21580"/>
          </a:xfrm>
          <a:custGeom>
            <a:avLst/>
            <a:gdLst/>
            <a:ahLst/>
            <a:cxnLst/>
            <a:rect l="l" t="t" r="r" b="b"/>
            <a:pathLst>
              <a:path w="2647502" h="21580">
                <a:moveTo>
                  <a:pt x="86360" y="0"/>
                </a:moveTo>
                <a:lnTo>
                  <a:pt x="2561142" y="0"/>
                </a:lnTo>
                <a:lnTo>
                  <a:pt x="2582558" y="2698"/>
                </a:lnTo>
                <a:lnTo>
                  <a:pt x="2591188" y="5395"/>
                </a:lnTo>
                <a:lnTo>
                  <a:pt x="2597642" y="8093"/>
                </a:lnTo>
                <a:lnTo>
                  <a:pt x="2602942" y="10790"/>
                </a:lnTo>
                <a:lnTo>
                  <a:pt x="2607485" y="13488"/>
                </a:lnTo>
                <a:lnTo>
                  <a:pt x="2611476" y="16185"/>
                </a:lnTo>
                <a:lnTo>
                  <a:pt x="2615039" y="18883"/>
                </a:lnTo>
                <a:lnTo>
                  <a:pt x="261825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06B6D4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6039148" y="1045666"/>
            <a:ext cx="2647655" cy="21580"/>
          </a:xfrm>
          <a:custGeom>
            <a:avLst/>
            <a:gdLst/>
            <a:ahLst/>
            <a:cxnLst/>
            <a:rect l="l" t="t" r="r" b="b"/>
            <a:pathLst>
              <a:path w="2647655" h="21580">
                <a:moveTo>
                  <a:pt x="86360" y="0"/>
                </a:moveTo>
                <a:lnTo>
                  <a:pt x="2561295" y="0"/>
                </a:lnTo>
                <a:lnTo>
                  <a:pt x="2582710" y="2698"/>
                </a:lnTo>
                <a:lnTo>
                  <a:pt x="2591340" y="5395"/>
                </a:lnTo>
                <a:lnTo>
                  <a:pt x="2597795" y="8093"/>
                </a:lnTo>
                <a:lnTo>
                  <a:pt x="2603095" y="10790"/>
                </a:lnTo>
                <a:lnTo>
                  <a:pt x="2607637" y="13488"/>
                </a:lnTo>
                <a:lnTo>
                  <a:pt x="2611629" y="16185"/>
                </a:lnTo>
                <a:lnTo>
                  <a:pt x="2615191" y="18883"/>
                </a:lnTo>
                <a:lnTo>
                  <a:pt x="261840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06B6D4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457200" y="3008858"/>
            <a:ext cx="2647502" cy="21580"/>
          </a:xfrm>
          <a:custGeom>
            <a:avLst/>
            <a:gdLst/>
            <a:ahLst/>
            <a:cxnLst/>
            <a:rect l="l" t="t" r="r" b="b"/>
            <a:pathLst>
              <a:path w="2647502" h="21580">
                <a:moveTo>
                  <a:pt x="86360" y="0"/>
                </a:moveTo>
                <a:lnTo>
                  <a:pt x="2561142" y="0"/>
                </a:lnTo>
                <a:lnTo>
                  <a:pt x="2582558" y="2698"/>
                </a:lnTo>
                <a:lnTo>
                  <a:pt x="2591188" y="5395"/>
                </a:lnTo>
                <a:lnTo>
                  <a:pt x="2597642" y="8093"/>
                </a:lnTo>
                <a:lnTo>
                  <a:pt x="2602942" y="10790"/>
                </a:lnTo>
                <a:lnTo>
                  <a:pt x="2607485" y="13488"/>
                </a:lnTo>
                <a:lnTo>
                  <a:pt x="2611476" y="16185"/>
                </a:lnTo>
                <a:lnTo>
                  <a:pt x="2615039" y="18883"/>
                </a:lnTo>
                <a:lnTo>
                  <a:pt x="261825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06B6D4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3248174" y="3008858"/>
            <a:ext cx="2647502" cy="21580"/>
          </a:xfrm>
          <a:custGeom>
            <a:avLst/>
            <a:gdLst/>
            <a:ahLst/>
            <a:cxnLst/>
            <a:rect l="l" t="t" r="r" b="b"/>
            <a:pathLst>
              <a:path w="2647502" h="21580">
                <a:moveTo>
                  <a:pt x="86360" y="0"/>
                </a:moveTo>
                <a:lnTo>
                  <a:pt x="2561142" y="0"/>
                </a:lnTo>
                <a:lnTo>
                  <a:pt x="2582558" y="2698"/>
                </a:lnTo>
                <a:lnTo>
                  <a:pt x="2591188" y="5395"/>
                </a:lnTo>
                <a:lnTo>
                  <a:pt x="2597642" y="8093"/>
                </a:lnTo>
                <a:lnTo>
                  <a:pt x="2602942" y="10790"/>
                </a:lnTo>
                <a:lnTo>
                  <a:pt x="2607485" y="13488"/>
                </a:lnTo>
                <a:lnTo>
                  <a:pt x="2611476" y="16185"/>
                </a:lnTo>
                <a:lnTo>
                  <a:pt x="2615039" y="18883"/>
                </a:lnTo>
                <a:lnTo>
                  <a:pt x="261825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06B6D4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6039148" y="3008858"/>
            <a:ext cx="2647655" cy="21580"/>
          </a:xfrm>
          <a:custGeom>
            <a:avLst/>
            <a:gdLst/>
            <a:ahLst/>
            <a:cxnLst/>
            <a:rect l="l" t="t" r="r" b="b"/>
            <a:pathLst>
              <a:path w="2647655" h="21580">
                <a:moveTo>
                  <a:pt x="86360" y="0"/>
                </a:moveTo>
                <a:lnTo>
                  <a:pt x="2561295" y="0"/>
                </a:lnTo>
                <a:lnTo>
                  <a:pt x="2582710" y="2698"/>
                </a:lnTo>
                <a:lnTo>
                  <a:pt x="2591340" y="5395"/>
                </a:lnTo>
                <a:lnTo>
                  <a:pt x="2597795" y="8093"/>
                </a:lnTo>
                <a:lnTo>
                  <a:pt x="2603095" y="10790"/>
                </a:lnTo>
                <a:lnTo>
                  <a:pt x="2607637" y="13488"/>
                </a:lnTo>
                <a:lnTo>
                  <a:pt x="2611629" y="16185"/>
                </a:lnTo>
                <a:lnTo>
                  <a:pt x="2615191" y="18883"/>
                </a:lnTo>
                <a:lnTo>
                  <a:pt x="261840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06B6D4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220" y="342900"/>
            <a:ext cx="8865549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030" b="1" spc="-2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Major Edge Platforms &amp; Providers</a:t>
            </a:r>
            <a:endParaRPr lang="en-US" sz="2030" dirty="0"/>
          </a:p>
        </p:txBody>
      </p:sp>
      <p:sp>
        <p:nvSpPr>
          <p:cNvPr id="3" name="Text 1"/>
          <p:cNvSpPr/>
          <p:nvPr/>
        </p:nvSpPr>
        <p:spPr>
          <a:xfrm>
            <a:off x="429220" y="786705"/>
            <a:ext cx="356741" cy="29170"/>
          </a:xfrm>
          <a:prstGeom prst="roundRect">
            <a:avLst>
              <a:gd name="adj" fmla="val 47892"/>
            </a:avLst>
          </a:prstGeom>
          <a:solidFill>
            <a:srgbClr val="06B6D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9220" y="1044476"/>
            <a:ext cx="2676376" cy="1205359"/>
          </a:xfrm>
          <a:prstGeom prst="roundRect">
            <a:avLst>
              <a:gd name="adj" fmla="val 5900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4511" y="120193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2469" y="1289893"/>
            <a:ext cx="139005" cy="1390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7573" y="1201936"/>
            <a:ext cx="2049006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AWS </a:t>
            </a:r>
            <a:pPr algn="l" indent="0" marL="0">
              <a:lnSpc>
                <a:spcPts val="1515"/>
              </a:lnSpc>
              <a:buNone/>
            </a:pPr>
            <a:r>
              <a:rPr lang="en-US" sz="680" b="1" spc="20" kern="0" dirty="0">
                <a:solidFill>
                  <a:srgbClr val="F59E0B"/>
                </a:solidFill>
                <a:highlight>
                  <a:srgbClr val="F59E0B">
                    <a:alpha val="15000"/>
                  </a:srgbClr>
                </a:highligh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~20% share</a:t>
            </a:r>
            <a:endParaRPr lang="en-US" sz="1010" dirty="0"/>
          </a:p>
        </p:txBody>
      </p:sp>
      <p:sp>
        <p:nvSpPr>
          <p:cNvPr id="8" name="Text 5"/>
          <p:cNvSpPr/>
          <p:nvPr/>
        </p:nvSpPr>
        <p:spPr>
          <a:xfrm>
            <a:off x="1057573" y="1429792"/>
            <a:ext cx="1899987" cy="695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87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Greengrass, Wavelength (5G MEC), Outposts, Lambda@Edge, Snow Family for disconnected environments.</a:t>
            </a:r>
            <a:endParaRPr lang="en-US" sz="870" dirty="0"/>
          </a:p>
        </p:txBody>
      </p:sp>
      <p:sp>
        <p:nvSpPr>
          <p:cNvPr id="9" name="Text 6"/>
          <p:cNvSpPr/>
          <p:nvPr/>
        </p:nvSpPr>
        <p:spPr>
          <a:xfrm>
            <a:off x="3233738" y="1044476"/>
            <a:ext cx="2676376" cy="1205359"/>
          </a:xfrm>
          <a:prstGeom prst="roundRect">
            <a:avLst>
              <a:gd name="adj" fmla="val 5900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419029" y="120193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6986" y="1289893"/>
            <a:ext cx="139005" cy="1390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2090" y="1201936"/>
            <a:ext cx="2049006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Microsoft Azure </a:t>
            </a:r>
            <a:pPr algn="l" indent="0" marL="0">
              <a:lnSpc>
                <a:spcPts val="1515"/>
              </a:lnSpc>
              <a:buNone/>
            </a:pPr>
            <a:r>
              <a:rPr lang="en-US" sz="680" b="1" spc="20" kern="0" dirty="0">
                <a:solidFill>
                  <a:srgbClr val="3B82F6"/>
                </a:solidFill>
                <a:highlight>
                  <a:srgbClr val="3B82F6">
                    <a:alpha val="15000"/>
                  </a:srgbClr>
                </a:highligh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~16% share</a:t>
            </a:r>
            <a:endParaRPr lang="en-US" sz="1010" dirty="0"/>
          </a:p>
        </p:txBody>
      </p:sp>
      <p:sp>
        <p:nvSpPr>
          <p:cNvPr id="13" name="Text 9"/>
          <p:cNvSpPr/>
          <p:nvPr/>
        </p:nvSpPr>
        <p:spPr>
          <a:xfrm>
            <a:off x="3862090" y="1429792"/>
            <a:ext cx="1899987" cy="521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87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IoT Edge, Azure Stack Edge, Azure Arc for hybrid/multi-cloud, Azure Private MEC.</a:t>
            </a:r>
            <a:endParaRPr lang="en-US" sz="870" dirty="0"/>
          </a:p>
        </p:txBody>
      </p:sp>
      <p:sp>
        <p:nvSpPr>
          <p:cNvPr id="14" name="Text 10"/>
          <p:cNvSpPr/>
          <p:nvPr/>
        </p:nvSpPr>
        <p:spPr>
          <a:xfrm>
            <a:off x="6038255" y="1044476"/>
            <a:ext cx="2676525" cy="1205359"/>
          </a:xfrm>
          <a:prstGeom prst="roundRect">
            <a:avLst>
              <a:gd name="adj" fmla="val 5900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223546" y="120193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1503" y="1289893"/>
            <a:ext cx="139005" cy="13900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66607" y="1201936"/>
            <a:ext cx="204917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Google Cloud </a:t>
            </a:r>
            <a:pPr algn="l" indent="0" marL="0">
              <a:lnSpc>
                <a:spcPts val="1515"/>
              </a:lnSpc>
              <a:buNone/>
            </a:pPr>
            <a:r>
              <a:rPr lang="en-US" sz="680" b="1" spc="20" kern="0" dirty="0">
                <a:solidFill>
                  <a:srgbClr val="EF4444"/>
                </a:solidFill>
                <a:highlight>
                  <a:srgbClr val="EF4444">
                    <a:alpha val="15000"/>
                  </a:srgbClr>
                </a:highligh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Edge AI/ML</a:t>
            </a:r>
            <a:endParaRPr lang="en-US" sz="1010" dirty="0"/>
          </a:p>
        </p:txBody>
      </p:sp>
      <p:sp>
        <p:nvSpPr>
          <p:cNvPr id="18" name="Text 13"/>
          <p:cNvSpPr/>
          <p:nvPr/>
        </p:nvSpPr>
        <p:spPr>
          <a:xfrm>
            <a:off x="6666607" y="1429792"/>
            <a:ext cx="1900139" cy="695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87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Cloud Edge, Anthos for edge Kubernetes, Coral hardware accelerators, Edge TPU. Strong in edge AI/ML.</a:t>
            </a:r>
            <a:endParaRPr lang="en-US" sz="870" dirty="0"/>
          </a:p>
        </p:txBody>
      </p:sp>
      <p:sp>
        <p:nvSpPr>
          <p:cNvPr id="19" name="Text 14"/>
          <p:cNvSpPr/>
          <p:nvPr/>
        </p:nvSpPr>
        <p:spPr>
          <a:xfrm>
            <a:off x="1785640" y="2377976"/>
            <a:ext cx="2722215" cy="1371005"/>
          </a:xfrm>
          <a:prstGeom prst="roundRect">
            <a:avLst>
              <a:gd name="adj" fmla="val 5187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1970931" y="253543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58888" y="2623393"/>
            <a:ext cx="139005" cy="13900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413992" y="2535436"/>
            <a:ext cx="2099429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NVIDIA </a:t>
            </a:r>
            <a:pPr algn="l" indent="0" marL="0">
              <a:lnSpc>
                <a:spcPts val="1515"/>
              </a:lnSpc>
              <a:buNone/>
            </a:pPr>
            <a:r>
              <a:rPr lang="en-US" sz="680" b="1" spc="20" kern="0" dirty="0">
                <a:solidFill>
                  <a:srgbClr val="06B6D4"/>
                </a:solidFill>
                <a:highlight>
                  <a:srgbClr val="06B6D4">
                    <a:alpha val="15000"/>
                  </a:srgbClr>
                </a:highligh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Edge AI HW</a:t>
            </a:r>
            <a:endParaRPr lang="en-US" sz="1010" dirty="0"/>
          </a:p>
        </p:txBody>
      </p:sp>
      <p:sp>
        <p:nvSpPr>
          <p:cNvPr id="23" name="Text 17"/>
          <p:cNvSpPr/>
          <p:nvPr/>
        </p:nvSpPr>
        <p:spPr>
          <a:xfrm>
            <a:off x="2413992" y="2763292"/>
            <a:ext cx="1946743" cy="86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87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platform (Orin, Xavier), Metropolis for vision AI, Fleet Command for edge orchestration, Isaac for robotics. Dominates edge AI hardware.</a:t>
            </a:r>
            <a:endParaRPr lang="en-US" sz="870" dirty="0"/>
          </a:p>
        </p:txBody>
      </p:sp>
      <p:sp>
        <p:nvSpPr>
          <p:cNvPr id="24" name="Text 18"/>
          <p:cNvSpPr/>
          <p:nvPr/>
        </p:nvSpPr>
        <p:spPr>
          <a:xfrm>
            <a:off x="4635996" y="2377976"/>
            <a:ext cx="2722364" cy="1371005"/>
          </a:xfrm>
          <a:prstGeom prst="roundRect">
            <a:avLst>
              <a:gd name="adj" fmla="val 5187"/>
            </a:avLst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4821287" y="253543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A78BFA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09245" y="2623393"/>
            <a:ext cx="139005" cy="13900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64348" y="2535436"/>
            <a:ext cx="2099593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Cloudflare </a:t>
            </a:r>
            <a:pPr algn="l" indent="0" marL="0">
              <a:lnSpc>
                <a:spcPts val="1515"/>
              </a:lnSpc>
              <a:buNone/>
            </a:pPr>
            <a:r>
              <a:rPr lang="en-US" sz="680" b="1" spc="20" kern="0" dirty="0">
                <a:solidFill>
                  <a:srgbClr val="A78BFA"/>
                </a:solidFill>
                <a:highlight>
                  <a:srgbClr val="A78BFA">
                    <a:alpha val="15000"/>
                  </a:srgbClr>
                </a:highligh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Serverless</a:t>
            </a:r>
            <a:endParaRPr lang="en-US" sz="1010" dirty="0"/>
          </a:p>
        </p:txBody>
      </p:sp>
      <p:sp>
        <p:nvSpPr>
          <p:cNvPr id="28" name="Text 21"/>
          <p:cNvSpPr/>
          <p:nvPr/>
        </p:nvSpPr>
        <p:spPr>
          <a:xfrm>
            <a:off x="5264348" y="2763292"/>
            <a:ext cx="1946895" cy="695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87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(serverless at 300+ PoPs), R2 storage, Durable Objects for stateful edge, Workers AI for inference. Leading edge-serverless platform.</a:t>
            </a:r>
            <a:endParaRPr lang="en-US" sz="870" dirty="0"/>
          </a:p>
        </p:txBody>
      </p:sp>
      <p:sp>
        <p:nvSpPr>
          <p:cNvPr id="29" name="Text 22"/>
          <p:cNvSpPr/>
          <p:nvPr/>
        </p:nvSpPr>
        <p:spPr>
          <a:xfrm>
            <a:off x="14942" y="4718745"/>
            <a:ext cx="911411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730" spc="3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spans hyperscalers, hardware vendors, and edge-native serverless providers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29220" y="1044476"/>
            <a:ext cx="35421" cy="1205360"/>
          </a:xfrm>
          <a:custGeom>
            <a:avLst/>
            <a:gdLst/>
            <a:ahLst/>
            <a:cxnLst/>
            <a:rect l="l" t="t" r="r" b="b"/>
            <a:pathLst>
              <a:path w="35421" h="1205360">
                <a:moveTo>
                  <a:pt x="0" y="71120"/>
                </a:moveTo>
                <a:lnTo>
                  <a:pt x="4428" y="46418"/>
                </a:lnTo>
                <a:lnTo>
                  <a:pt x="8855" y="36752"/>
                </a:lnTo>
                <a:lnTo>
                  <a:pt x="13283" y="29733"/>
                </a:lnTo>
                <a:lnTo>
                  <a:pt x="17711" y="24157"/>
                </a:lnTo>
                <a:lnTo>
                  <a:pt x="22138" y="19556"/>
                </a:lnTo>
                <a:lnTo>
                  <a:pt x="26566" y="15686"/>
                </a:lnTo>
                <a:lnTo>
                  <a:pt x="30993" y="12401"/>
                </a:lnTo>
                <a:lnTo>
                  <a:pt x="35421" y="9609"/>
                </a:lnTo>
                <a:lnTo>
                  <a:pt x="35421" y="1195751"/>
                </a:lnTo>
                <a:lnTo>
                  <a:pt x="30993" y="1192959"/>
                </a:lnTo>
                <a:lnTo>
                  <a:pt x="26566" y="1189675"/>
                </a:lnTo>
                <a:lnTo>
                  <a:pt x="22138" y="1185804"/>
                </a:lnTo>
                <a:lnTo>
                  <a:pt x="17711" y="1181203"/>
                </a:lnTo>
                <a:lnTo>
                  <a:pt x="13283" y="1175628"/>
                </a:lnTo>
                <a:lnTo>
                  <a:pt x="8855" y="1168608"/>
                </a:lnTo>
                <a:lnTo>
                  <a:pt x="4428" y="1158942"/>
                </a:lnTo>
                <a:lnTo>
                  <a:pt x="0" y="113424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3233738" y="1044476"/>
            <a:ext cx="35421" cy="1205360"/>
          </a:xfrm>
          <a:custGeom>
            <a:avLst/>
            <a:gdLst/>
            <a:ahLst/>
            <a:cxnLst/>
            <a:rect l="l" t="t" r="r" b="b"/>
            <a:pathLst>
              <a:path w="35421" h="1205360">
                <a:moveTo>
                  <a:pt x="0" y="71120"/>
                </a:moveTo>
                <a:lnTo>
                  <a:pt x="4428" y="46418"/>
                </a:lnTo>
                <a:lnTo>
                  <a:pt x="8855" y="36752"/>
                </a:lnTo>
                <a:lnTo>
                  <a:pt x="13283" y="29733"/>
                </a:lnTo>
                <a:lnTo>
                  <a:pt x="17711" y="24157"/>
                </a:lnTo>
                <a:lnTo>
                  <a:pt x="22138" y="19556"/>
                </a:lnTo>
                <a:lnTo>
                  <a:pt x="26566" y="15686"/>
                </a:lnTo>
                <a:lnTo>
                  <a:pt x="30993" y="12401"/>
                </a:lnTo>
                <a:lnTo>
                  <a:pt x="35421" y="9609"/>
                </a:lnTo>
                <a:lnTo>
                  <a:pt x="35421" y="1195751"/>
                </a:lnTo>
                <a:lnTo>
                  <a:pt x="30993" y="1192959"/>
                </a:lnTo>
                <a:lnTo>
                  <a:pt x="26566" y="1189675"/>
                </a:lnTo>
                <a:lnTo>
                  <a:pt x="22138" y="1185804"/>
                </a:lnTo>
                <a:lnTo>
                  <a:pt x="17711" y="1181203"/>
                </a:lnTo>
                <a:lnTo>
                  <a:pt x="13283" y="1175628"/>
                </a:lnTo>
                <a:lnTo>
                  <a:pt x="8855" y="1168608"/>
                </a:lnTo>
                <a:lnTo>
                  <a:pt x="4428" y="1158942"/>
                </a:lnTo>
                <a:lnTo>
                  <a:pt x="0" y="113424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6038255" y="1044476"/>
            <a:ext cx="35421" cy="1205360"/>
          </a:xfrm>
          <a:custGeom>
            <a:avLst/>
            <a:gdLst/>
            <a:ahLst/>
            <a:cxnLst/>
            <a:rect l="l" t="t" r="r" b="b"/>
            <a:pathLst>
              <a:path w="35421" h="1205360">
                <a:moveTo>
                  <a:pt x="0" y="71120"/>
                </a:moveTo>
                <a:lnTo>
                  <a:pt x="4428" y="46418"/>
                </a:lnTo>
                <a:lnTo>
                  <a:pt x="8855" y="36752"/>
                </a:lnTo>
                <a:lnTo>
                  <a:pt x="13283" y="29733"/>
                </a:lnTo>
                <a:lnTo>
                  <a:pt x="17711" y="24157"/>
                </a:lnTo>
                <a:lnTo>
                  <a:pt x="22138" y="19556"/>
                </a:lnTo>
                <a:lnTo>
                  <a:pt x="26566" y="15686"/>
                </a:lnTo>
                <a:lnTo>
                  <a:pt x="30993" y="12401"/>
                </a:lnTo>
                <a:lnTo>
                  <a:pt x="35421" y="9609"/>
                </a:lnTo>
                <a:lnTo>
                  <a:pt x="35421" y="1195751"/>
                </a:lnTo>
                <a:lnTo>
                  <a:pt x="30993" y="1192959"/>
                </a:lnTo>
                <a:lnTo>
                  <a:pt x="26566" y="1189675"/>
                </a:lnTo>
                <a:lnTo>
                  <a:pt x="22138" y="1185804"/>
                </a:lnTo>
                <a:lnTo>
                  <a:pt x="17711" y="1181203"/>
                </a:lnTo>
                <a:lnTo>
                  <a:pt x="13283" y="1175628"/>
                </a:lnTo>
                <a:lnTo>
                  <a:pt x="8855" y="1168608"/>
                </a:lnTo>
                <a:lnTo>
                  <a:pt x="4428" y="1158942"/>
                </a:lnTo>
                <a:lnTo>
                  <a:pt x="0" y="1134240"/>
                </a:lnTo>
                <a:close/>
              </a:path>
            </a:pathLst>
          </a:custGeom>
          <a:solidFill>
            <a:srgbClr val="EF444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1785640" y="2377976"/>
            <a:ext cx="35421" cy="1371009"/>
          </a:xfrm>
          <a:custGeom>
            <a:avLst/>
            <a:gdLst/>
            <a:ahLst/>
            <a:cxnLst/>
            <a:rect l="l" t="t" r="r" b="b"/>
            <a:pathLst>
              <a:path w="35421" h="1371009">
                <a:moveTo>
                  <a:pt x="0" y="71120"/>
                </a:moveTo>
                <a:lnTo>
                  <a:pt x="4428" y="46418"/>
                </a:lnTo>
                <a:lnTo>
                  <a:pt x="8855" y="36752"/>
                </a:lnTo>
                <a:lnTo>
                  <a:pt x="13283" y="29733"/>
                </a:lnTo>
                <a:lnTo>
                  <a:pt x="17711" y="24157"/>
                </a:lnTo>
                <a:lnTo>
                  <a:pt x="22138" y="19556"/>
                </a:lnTo>
                <a:lnTo>
                  <a:pt x="26566" y="15686"/>
                </a:lnTo>
                <a:lnTo>
                  <a:pt x="30993" y="12401"/>
                </a:lnTo>
                <a:lnTo>
                  <a:pt x="35421" y="9609"/>
                </a:lnTo>
                <a:lnTo>
                  <a:pt x="35421" y="1361401"/>
                </a:lnTo>
                <a:lnTo>
                  <a:pt x="30993" y="1358608"/>
                </a:lnTo>
                <a:lnTo>
                  <a:pt x="26566" y="1355324"/>
                </a:lnTo>
                <a:lnTo>
                  <a:pt x="22138" y="1351453"/>
                </a:lnTo>
                <a:lnTo>
                  <a:pt x="17711" y="1346852"/>
                </a:lnTo>
                <a:lnTo>
                  <a:pt x="13283" y="1341277"/>
                </a:lnTo>
                <a:lnTo>
                  <a:pt x="8855" y="1334257"/>
                </a:lnTo>
                <a:lnTo>
                  <a:pt x="4428" y="1324591"/>
                </a:lnTo>
                <a:lnTo>
                  <a:pt x="0" y="1299889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4635996" y="2377976"/>
            <a:ext cx="35421" cy="1371009"/>
          </a:xfrm>
          <a:custGeom>
            <a:avLst/>
            <a:gdLst/>
            <a:ahLst/>
            <a:cxnLst/>
            <a:rect l="l" t="t" r="r" b="b"/>
            <a:pathLst>
              <a:path w="35421" h="1371009">
                <a:moveTo>
                  <a:pt x="0" y="71120"/>
                </a:moveTo>
                <a:lnTo>
                  <a:pt x="4428" y="46418"/>
                </a:lnTo>
                <a:lnTo>
                  <a:pt x="8855" y="36752"/>
                </a:lnTo>
                <a:lnTo>
                  <a:pt x="13283" y="29733"/>
                </a:lnTo>
                <a:lnTo>
                  <a:pt x="17711" y="24157"/>
                </a:lnTo>
                <a:lnTo>
                  <a:pt x="22138" y="19556"/>
                </a:lnTo>
                <a:lnTo>
                  <a:pt x="26566" y="15686"/>
                </a:lnTo>
                <a:lnTo>
                  <a:pt x="30993" y="12401"/>
                </a:lnTo>
                <a:lnTo>
                  <a:pt x="35421" y="9609"/>
                </a:lnTo>
                <a:lnTo>
                  <a:pt x="35421" y="1361401"/>
                </a:lnTo>
                <a:lnTo>
                  <a:pt x="30993" y="1358608"/>
                </a:lnTo>
                <a:lnTo>
                  <a:pt x="26566" y="1355324"/>
                </a:lnTo>
                <a:lnTo>
                  <a:pt x="22138" y="1351453"/>
                </a:lnTo>
                <a:lnTo>
                  <a:pt x="17711" y="1346852"/>
                </a:lnTo>
                <a:lnTo>
                  <a:pt x="13283" y="1341277"/>
                </a:lnTo>
                <a:lnTo>
                  <a:pt x="8855" y="1334257"/>
                </a:lnTo>
                <a:lnTo>
                  <a:pt x="4428" y="1324591"/>
                </a:lnTo>
                <a:lnTo>
                  <a:pt x="0" y="1299889"/>
                </a:lnTo>
                <a:close/>
              </a:path>
            </a:pathLst>
          </a:custGeom>
          <a:solidFill>
            <a:srgbClr val="A78B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0"/>
            <a:ext cx="2286000" cy="2142530"/>
          </a:xfrm>
          <a:prstGeom prst="ellipse">
            <a:avLst/>
          </a:prstGeom>
          <a:gradFill rotWithShape="1">
            <a:gsLst>
              <a:gs pos="0">
                <a:srgbClr val="06B6D4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429000"/>
            <a:ext cx="1714500" cy="1714500"/>
          </a:xfrm>
          <a:prstGeom prst="ellipse">
            <a:avLst/>
          </a:prstGeom>
          <a:gradFill rotWithShape="1">
            <a:gsLst>
              <a:gs pos="0">
                <a:srgbClr val="06B6D4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" y="528638"/>
            <a:ext cx="171450" cy="1714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" y="400050"/>
            <a:ext cx="21851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b="1" spc="-3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514350" y="928985"/>
            <a:ext cx="457200" cy="29170"/>
          </a:xfrm>
          <a:prstGeom prst="roundRect">
            <a:avLst>
              <a:gd name="adj" fmla="val 47892"/>
            </a:avLst>
          </a:prstGeom>
          <a:solidFill>
            <a:srgbClr val="06B6D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14350" y="1741736"/>
            <a:ext cx="771525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14350" y="1226046"/>
            <a:ext cx="257770" cy="283547"/>
          </a:xfrm>
          <a:prstGeom prst="ellipse">
            <a:avLst/>
          </a:prstGeom>
          <a:gradFill rotWithShape="1">
            <a:gsLst>
              <a:gs pos="0">
                <a:srgbClr val="06B6D4"/>
              </a:gs>
              <a:gs pos="100000">
                <a:srgbClr val="0E7490"/>
              </a:gs>
            </a:gsLst>
            <a:lin ang="2700000" scaled="1"/>
          </a:gra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5591" y="1218456"/>
            <a:ext cx="7460290" cy="429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extends the cloud to where data is generated — enabling </a:t>
            </a:r>
            <a:pPr algn="l" indent="0" marL="0">
              <a:lnSpc>
                <a:spcPts val="1612"/>
              </a:lnSpc>
              <a:buNone/>
            </a:pPr>
            <a:r>
              <a:rPr lang="en-US" sz="104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processing</a:t>
            </a:r>
            <a:pPr algn="l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offline resilience, and data sovereignty</a:t>
            </a:r>
            <a:endParaRPr lang="en-US" sz="1040" dirty="0"/>
          </a:p>
        </p:txBody>
      </p:sp>
      <p:sp>
        <p:nvSpPr>
          <p:cNvPr id="10" name="Text 7"/>
          <p:cNvSpPr/>
          <p:nvPr/>
        </p:nvSpPr>
        <p:spPr>
          <a:xfrm>
            <a:off x="514350" y="2388840"/>
            <a:ext cx="771525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14350" y="1873151"/>
            <a:ext cx="257770" cy="283547"/>
          </a:xfrm>
          <a:prstGeom prst="ellipse">
            <a:avLst/>
          </a:prstGeom>
          <a:gradFill rotWithShape="1">
            <a:gsLst>
              <a:gs pos="0">
                <a:srgbClr val="06B6D4"/>
              </a:gs>
              <a:gs pos="100000">
                <a:srgbClr val="0E7490"/>
              </a:gs>
            </a:gsLst>
            <a:lin ang="2700000" scaled="1"/>
          </a:gra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15591" y="1865561"/>
            <a:ext cx="7460290" cy="429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spectrum spans </a:t>
            </a:r>
            <a:pPr algn="l" indent="0" marL="0">
              <a:lnSpc>
                <a:spcPts val="1612"/>
              </a:lnSpc>
              <a:buNone/>
            </a:pPr>
            <a:r>
              <a:rPr lang="en-US" sz="104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device, gateway, network (MEC), and cloud tiers</a:t>
            </a:r>
            <a:pPr algn="l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each with distinct latency, compute, and management trade-offs</a:t>
            </a:r>
            <a:endParaRPr lang="en-US" sz="1040" dirty="0"/>
          </a:p>
        </p:txBody>
      </p:sp>
      <p:sp>
        <p:nvSpPr>
          <p:cNvPr id="13" name="Text 10"/>
          <p:cNvSpPr/>
          <p:nvPr/>
        </p:nvSpPr>
        <p:spPr>
          <a:xfrm>
            <a:off x="514350" y="3035945"/>
            <a:ext cx="771525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14350" y="2520255"/>
            <a:ext cx="257770" cy="283547"/>
          </a:xfrm>
          <a:prstGeom prst="ellipse">
            <a:avLst/>
          </a:prstGeom>
          <a:gradFill rotWithShape="1">
            <a:gsLst>
              <a:gs pos="0">
                <a:srgbClr val="06B6D4"/>
              </a:gs>
              <a:gs pos="100000">
                <a:srgbClr val="0E7490"/>
              </a:gs>
            </a:gsLst>
            <a:lin ang="2700000" scaled="1"/>
          </a:gra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15591" y="2512665"/>
            <a:ext cx="7460290" cy="429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Kubernetes (K3s), containerization, and GitOps make edge deployments </a:t>
            </a:r>
            <a:pPr algn="l" indent="0" marL="0">
              <a:lnSpc>
                <a:spcPts val="1612"/>
              </a:lnSpc>
              <a:buNone/>
            </a:pPr>
            <a:r>
              <a:rPr lang="en-US" sz="104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and manageable</a:t>
            </a:r>
            <a:pPr algn="l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thousands of nodes</a:t>
            </a:r>
            <a:endParaRPr lang="en-US" sz="1040" dirty="0"/>
          </a:p>
        </p:txBody>
      </p:sp>
      <p:sp>
        <p:nvSpPr>
          <p:cNvPr id="16" name="Text 13"/>
          <p:cNvSpPr/>
          <p:nvPr/>
        </p:nvSpPr>
        <p:spPr>
          <a:xfrm>
            <a:off x="514350" y="3683050"/>
            <a:ext cx="771525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14350" y="3167360"/>
            <a:ext cx="257770" cy="283547"/>
          </a:xfrm>
          <a:prstGeom prst="ellipse">
            <a:avLst/>
          </a:prstGeom>
          <a:gradFill rotWithShape="1">
            <a:gsLst>
              <a:gs pos="0">
                <a:srgbClr val="06B6D4"/>
              </a:gs>
              <a:gs pos="100000">
                <a:srgbClr val="0E7490"/>
              </a:gs>
            </a:gsLst>
            <a:lin ang="2700000" scaled="1"/>
          </a:gra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15591" y="3159770"/>
            <a:ext cx="7460290" cy="429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at the edge demands </a:t>
            </a:r>
            <a:pPr algn="l" indent="0" marL="0">
              <a:lnSpc>
                <a:spcPts val="1612"/>
              </a:lnSpc>
              <a:buNone/>
            </a:pPr>
            <a:r>
              <a:rPr lang="en-US" sz="104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root of trust</a:t>
            </a:r>
            <a:pPr algn="l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zero-trust networking, and automated patch management for distributed device fleets</a:t>
            </a:r>
            <a:endParaRPr lang="en-US" sz="1040" dirty="0"/>
          </a:p>
        </p:txBody>
      </p:sp>
      <p:sp>
        <p:nvSpPr>
          <p:cNvPr id="19" name="Text 16"/>
          <p:cNvSpPr/>
          <p:nvPr/>
        </p:nvSpPr>
        <p:spPr>
          <a:xfrm>
            <a:off x="514350" y="3814465"/>
            <a:ext cx="257770" cy="283547"/>
          </a:xfrm>
          <a:prstGeom prst="ellipse">
            <a:avLst/>
          </a:prstGeom>
          <a:gradFill rotWithShape="1">
            <a:gsLst>
              <a:gs pos="0">
                <a:srgbClr val="06B6D4"/>
              </a:gs>
              <a:gs pos="100000">
                <a:srgbClr val="0E7490"/>
              </a:gs>
            </a:gsLst>
            <a:lin ang="2700000" scaled="1"/>
          </a:gra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15591" y="3806875"/>
            <a:ext cx="7460290" cy="429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and cloud are complementary — engineer </a:t>
            </a:r>
            <a:pPr algn="l" indent="0" marL="0">
              <a:lnSpc>
                <a:spcPts val="1612"/>
              </a:lnSpc>
              <a:buNone/>
            </a:pPr>
            <a:r>
              <a:rPr lang="en-US" sz="104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architectures</a:t>
            </a:r>
            <a:pPr algn="l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edge handles real-time action and cloud provides training, analytics, and orchestration</a:t>
            </a:r>
            <a:endParaRPr lang="en-US" sz="1040" dirty="0"/>
          </a:p>
        </p:txBody>
      </p:sp>
      <p:sp>
        <p:nvSpPr>
          <p:cNvPr id="21" name="Text 18"/>
          <p:cNvSpPr/>
          <p:nvPr/>
        </p:nvSpPr>
        <p:spPr>
          <a:xfrm>
            <a:off x="514350" y="4476155"/>
            <a:ext cx="8115300" cy="9525"/>
          </a:xfrm>
          <a:prstGeom prst="rect">
            <a:avLst/>
          </a:prstGeom>
          <a:solidFill>
            <a:srgbClr val="06B6D4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27" y="4648581"/>
            <a:ext cx="132588" cy="13258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10803" y="4629150"/>
            <a:ext cx="54692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i="1" spc="2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computing is not centralized or distributed — it is both, intelligently orchestrated.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docgen</cp:lastModifiedBy>
  <cp:revision>1</cp:revision>
  <dcterms:created xsi:type="dcterms:W3CDTF">2026-04-22T01:47:45Z</dcterms:created>
  <dcterms:modified xsi:type="dcterms:W3CDTF">2026-04-22T01:47:45Z</dcterms:modified>
</cp:coreProperties>
</file>