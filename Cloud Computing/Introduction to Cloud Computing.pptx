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44" r="44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>
                  <a:alpha val="82000"/>
                </a:srgbClr>
              </a:gs>
              <a:gs pos="45000">
                <a:srgbClr val="0F172A">
                  <a:alpha val="65000"/>
                </a:srgbClr>
              </a:gs>
              <a:gs pos="100000">
                <a:srgbClr val="0F172A">
                  <a:alpha val="3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0F172A">
                  <a:alpha val="40000"/>
                </a:srgbClr>
              </a:gs>
            </a:gsLst>
            <a:path path="circle">
              <a:fillToRect l="30000" t="70000" r="70000" b="3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85750" y="1856780"/>
            <a:ext cx="2857500" cy="2857500"/>
          </a:xfrm>
          <a:prstGeom prst="rect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43479" y="285750"/>
            <a:ext cx="43160" cy="43160"/>
          </a:xfrm>
          <a:prstGeom prst="ellipse">
            <a:avLst/>
          </a:prstGeom>
          <a:solidFill>
            <a:srgbClr val="38BDF8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43789" y="285750"/>
            <a:ext cx="43160" cy="43160"/>
          </a:xfrm>
          <a:prstGeom prst="ellipse">
            <a:avLst/>
          </a:prstGeom>
          <a:solidFill>
            <a:srgbClr val="38BDF8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44099" y="285750"/>
            <a:ext cx="43160" cy="43160"/>
          </a:xfrm>
          <a:prstGeom prst="ellipse">
            <a:avLst/>
          </a:prstGeom>
          <a:solidFill>
            <a:srgbClr val="38BDF8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2542282"/>
            <a:ext cx="37207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14300" dist="50800" dir="16200000">
              <a:srgbClr val="38bdf8">
                <a:alpha val="4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1500" y="2714923"/>
            <a:ext cx="5101245" cy="991374"/>
          </a:xfrm>
          <a:prstGeom prst="rect">
            <a:avLst/>
          </a:prstGeom>
          <a:noFill/>
          <a:ln/>
          <a:effectLst>
            <a:outerShdw sx="100000" sy="100000" kx="0" ky="0" algn="bl" rotWithShape="0" blurRad="143510" dist="1397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8"/>
              </a:lnSpc>
              <a:buNone/>
            </a:pPr>
            <a:r>
              <a:rPr lang="en-US" sz="3380" spc="-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Introduction to</a:t>
            </a:r>
            <a:br/>
            <a:pPr algn="l" indent="0" marL="0">
              <a:lnSpc>
                <a:spcPts val="3718"/>
              </a:lnSpc>
              <a:buNone/>
            </a:pPr>
            <a:r>
              <a:rPr lang="en-US" sz="3380" spc="-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Computing</a:t>
            </a:r>
            <a:endParaRPr lang="en-US" sz="3380" dirty="0"/>
          </a:p>
        </p:txBody>
      </p:sp>
      <p:sp>
        <p:nvSpPr>
          <p:cNvPr id="11" name="Text 8"/>
          <p:cNvSpPr/>
          <p:nvPr/>
        </p:nvSpPr>
        <p:spPr>
          <a:xfrm>
            <a:off x="571500" y="3816548"/>
            <a:ext cx="8572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86360" dist="50800" dir="16200000">
              <a:srgbClr val="38bdf8">
                <a:alpha val="3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500" y="4009579"/>
            <a:ext cx="4735851" cy="51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5"/>
              </a:lnSpc>
              <a:buNone/>
            </a:pPr>
            <a:r>
              <a:rPr lang="en-US" sz="129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MODELS, AND THE MODERN CLOUD LANDSCAPE</a:t>
            </a:r>
            <a:endParaRPr lang="en-US" sz="12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0"/>
            <a:ext cx="2286000" cy="200025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357860"/>
            <a:ext cx="2142530" cy="178564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285750"/>
            <a:ext cx="3429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364480"/>
            <a:ext cx="852106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spcAft>
                <a:spcPts val="340"/>
              </a:spcAft>
              <a:buNone/>
            </a:pPr>
            <a:r>
              <a:rPr lang="en-US" sz="270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Cloud Computing?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14350" y="921990"/>
            <a:ext cx="892683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concept behind modern IT infrastructure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14350" y="1294656"/>
            <a:ext cx="8115300" cy="574328"/>
          </a:xfrm>
          <a:prstGeom prst="roundRect">
            <a:avLst>
              <a:gd name="adj" fmla="val 1746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390501"/>
            <a:ext cx="328910" cy="328910"/>
          </a:xfrm>
          <a:prstGeom prst="roundRect">
            <a:avLst>
              <a:gd name="adj" fmla="val 26256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277" y="1485454"/>
            <a:ext cx="139005" cy="1390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7705" y="1404342"/>
            <a:ext cx="767673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API-DRIVEN PROVISIONING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1167705" y="1579513"/>
            <a:ext cx="7676733" cy="19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API-driven provisioning of compute, storage, networking, and managed services over the internet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514350" y="1939975"/>
            <a:ext cx="8115300" cy="767953"/>
          </a:xfrm>
          <a:prstGeom prst="roundRect">
            <a:avLst>
              <a:gd name="adj" fmla="val 13065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5325" y="2035820"/>
            <a:ext cx="328910" cy="328910"/>
          </a:xfrm>
          <a:prstGeom prst="roundRect">
            <a:avLst>
              <a:gd name="adj" fmla="val 26256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277" y="2130772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67705" y="2049661"/>
            <a:ext cx="80090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ABSTRACTION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1167705" y="2224832"/>
            <a:ext cx="7426589" cy="40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physical infrastructure — engineers interact with resources programmatically via SDKs, CLIs, and IaC tools (Terraform, CloudFormation)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14350" y="2778919"/>
            <a:ext cx="8115300" cy="574328"/>
          </a:xfrm>
          <a:prstGeom prst="roundRect">
            <a:avLst>
              <a:gd name="adj" fmla="val 1746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95325" y="2874764"/>
            <a:ext cx="328910" cy="328910"/>
          </a:xfrm>
          <a:prstGeom prst="roundRect">
            <a:avLst>
              <a:gd name="adj" fmla="val 26256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277" y="2969716"/>
            <a:ext cx="139005" cy="1390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67705" y="2888605"/>
            <a:ext cx="711569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PAY-PER-USE BILLING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1167705" y="3063776"/>
            <a:ext cx="7115696" cy="19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billing model: compute charged per second/hour, storage per GB, network per egress GB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514350" y="3424238"/>
            <a:ext cx="8115300" cy="767953"/>
          </a:xfrm>
          <a:prstGeom prst="roundRect">
            <a:avLst>
              <a:gd name="adj" fmla="val 13065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95325" y="3520083"/>
            <a:ext cx="328910" cy="328910"/>
          </a:xfrm>
          <a:prstGeom prst="roundRect">
            <a:avLst>
              <a:gd name="adj" fmla="val 26256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277" y="3615035"/>
            <a:ext cx="139005" cy="1390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7705" y="3533924"/>
            <a:ext cx="800906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DEFINITION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1167705" y="3709095"/>
            <a:ext cx="7426589" cy="40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definition: a model enabling ubiquitous, on-demand access to a shared pool of configurable computing resources that can be rapidly provisioned with minimal management effort</a:t>
            </a:r>
            <a:endParaRPr lang="en-US" sz="1130" dirty="0"/>
          </a:p>
        </p:txBody>
      </p:sp>
      <p:sp>
        <p:nvSpPr>
          <p:cNvPr id="27" name="Text 21"/>
          <p:cNvSpPr/>
          <p:nvPr/>
        </p:nvSpPr>
        <p:spPr>
          <a:xfrm>
            <a:off x="514350" y="4263182"/>
            <a:ext cx="8115300" cy="574328"/>
          </a:xfrm>
          <a:prstGeom prst="roundRect">
            <a:avLst>
              <a:gd name="adj" fmla="val 1746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95325" y="4359027"/>
            <a:ext cx="328910" cy="328910"/>
          </a:xfrm>
          <a:prstGeom prst="roundRect">
            <a:avLst>
              <a:gd name="adj" fmla="val 26256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277" y="4453979"/>
            <a:ext cx="139005" cy="1390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67705" y="4372868"/>
            <a:ext cx="715924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SHIFT</a:t>
            </a:r>
            <a:endParaRPr lang="en-US" sz="840" dirty="0"/>
          </a:p>
        </p:txBody>
      </p:sp>
      <p:sp>
        <p:nvSpPr>
          <p:cNvPr id="31" name="Text 24"/>
          <p:cNvSpPr/>
          <p:nvPr/>
        </p:nvSpPr>
        <p:spPr>
          <a:xfrm>
            <a:off x="1167705" y="4548039"/>
            <a:ext cx="7159243" cy="19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shift: from capacity planning and hardware procurement to elastic, software-defined infrastructure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71760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450"/>
              </a:spcAft>
              <a:buNone/>
            </a:pPr>
            <a:r>
              <a:rPr lang="en-US" sz="790" b="1" spc="17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FRAMEWORK</a:t>
            </a:r>
            <a:endParaRPr lang="en-US" sz="790" dirty="0"/>
          </a:p>
        </p:txBody>
      </p:sp>
      <p:sp>
        <p:nvSpPr>
          <p:cNvPr id="3" name="Text 1"/>
          <p:cNvSpPr/>
          <p:nvPr/>
        </p:nvSpPr>
        <p:spPr>
          <a:xfrm>
            <a:off x="400050" y="479375"/>
            <a:ext cx="8927973" cy="3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8"/>
              </a:lnSpc>
              <a:spcAft>
                <a:spcPts val="340"/>
              </a:spcAft>
              <a:buNone/>
            </a:pPr>
            <a:r>
              <a:rPr lang="en-US" sz="21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Essential Characteristics of Cloud Computing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00050" y="848618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041648"/>
            <a:ext cx="2685604" cy="1522065"/>
          </a:xfrm>
          <a:prstGeom prst="roundRect">
            <a:avLst>
              <a:gd name="adj" fmla="val 6592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7035" y="122262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982" y="1324570"/>
            <a:ext cx="139005" cy="139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035" y="1636514"/>
            <a:ext cx="2019538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On-Demand Self-Service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567035" y="1896368"/>
            <a:ext cx="2398666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VMs, containers, databases, and networking via APIs or console — no tickets or manual intervention required.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9124" y="1041648"/>
            <a:ext cx="2685604" cy="1522065"/>
          </a:xfrm>
          <a:prstGeom prst="roundRect">
            <a:avLst>
              <a:gd name="adj" fmla="val 6592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96109" y="122262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8056" y="1324570"/>
            <a:ext cx="139005" cy="1390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96109" y="1636514"/>
            <a:ext cx="1878583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Broad Network Access</a:t>
            </a:r>
            <a:endParaRPr lang="en-US" sz="1240" dirty="0"/>
          </a:p>
        </p:txBody>
      </p:sp>
      <p:sp>
        <p:nvSpPr>
          <p:cNvPr id="14" name="Text 10"/>
          <p:cNvSpPr/>
          <p:nvPr/>
        </p:nvSpPr>
        <p:spPr>
          <a:xfrm>
            <a:off x="3396109" y="1896368"/>
            <a:ext cx="2398666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accessible over standard protocols (HTTPS, SSH, VPN) from any client — CI/CD pipelines, dev machines, mobile devices.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058198" y="1041648"/>
            <a:ext cx="2685752" cy="1522065"/>
          </a:xfrm>
          <a:prstGeom prst="roundRect">
            <a:avLst>
              <a:gd name="adj" fmla="val 6592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25183" y="122262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7130" y="1324570"/>
            <a:ext cx="139005" cy="1390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5183" y="1636514"/>
            <a:ext cx="1471270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 Pooling</a:t>
            </a:r>
            <a:endParaRPr lang="en-US" sz="1240" dirty="0"/>
          </a:p>
        </p:txBody>
      </p:sp>
      <p:sp>
        <p:nvSpPr>
          <p:cNvPr id="19" name="Text 14"/>
          <p:cNvSpPr/>
          <p:nvPr/>
        </p:nvSpPr>
        <p:spPr>
          <a:xfrm>
            <a:off x="6225183" y="1896368"/>
            <a:ext cx="239881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architecture: hypervisor-level isolation, shared physical infrastructure, VPCs for network segmentation.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042815" y="2707184"/>
            <a:ext cx="2457450" cy="1693515"/>
          </a:xfrm>
          <a:prstGeom prst="roundRect">
            <a:avLst>
              <a:gd name="adj" fmla="val 5924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2209800" y="288815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1747" y="2990106"/>
            <a:ext cx="139005" cy="1390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09800" y="3302050"/>
            <a:ext cx="1288733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Rapid Elasticity</a:t>
            </a:r>
            <a:endParaRPr lang="en-US" sz="1240" dirty="0"/>
          </a:p>
        </p:txBody>
      </p:sp>
      <p:sp>
        <p:nvSpPr>
          <p:cNvPr id="24" name="Text 18"/>
          <p:cNvSpPr/>
          <p:nvPr/>
        </p:nvSpPr>
        <p:spPr>
          <a:xfrm>
            <a:off x="2209800" y="3561904"/>
            <a:ext cx="2165949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groups, serverless functions, and container orchestration enable automatic scale-out/scale-in based on load metrics.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643735" y="2707184"/>
            <a:ext cx="2457450" cy="1693515"/>
          </a:xfrm>
          <a:prstGeom prst="roundRect">
            <a:avLst>
              <a:gd name="adj" fmla="val 5924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810720" y="288815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2668" y="2990106"/>
            <a:ext cx="139005" cy="13900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10720" y="3302050"/>
            <a:ext cx="1471761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Measured Service</a:t>
            </a:r>
            <a:endParaRPr lang="en-US" sz="1240" dirty="0"/>
          </a:p>
        </p:txBody>
      </p:sp>
      <p:sp>
        <p:nvSpPr>
          <p:cNvPr id="29" name="Text 22"/>
          <p:cNvSpPr/>
          <p:nvPr/>
        </p:nvSpPr>
        <p:spPr>
          <a:xfrm>
            <a:off x="4810720" y="3561904"/>
            <a:ext cx="21659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metering of CPU hours, IOPS, bandwidth, and API calls — integrated with cost dashboards and budget alerts.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09575" y="1051173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00330" y="0"/>
                </a:moveTo>
                <a:lnTo>
                  <a:pt x="2566223" y="0"/>
                </a:lnTo>
                <a:lnTo>
                  <a:pt x="2589331" y="2698"/>
                </a:lnTo>
                <a:lnTo>
                  <a:pt x="2598680" y="5395"/>
                </a:lnTo>
                <a:lnTo>
                  <a:pt x="2605699" y="8093"/>
                </a:lnTo>
                <a:lnTo>
                  <a:pt x="2611485" y="10790"/>
                </a:lnTo>
                <a:lnTo>
                  <a:pt x="2616467" y="13488"/>
                </a:lnTo>
                <a:lnTo>
                  <a:pt x="2620864" y="16185"/>
                </a:lnTo>
                <a:lnTo>
                  <a:pt x="2624809" y="18883"/>
                </a:lnTo>
                <a:lnTo>
                  <a:pt x="26283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238649" y="1051173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100330" y="0"/>
                </a:moveTo>
                <a:lnTo>
                  <a:pt x="2566223" y="0"/>
                </a:lnTo>
                <a:lnTo>
                  <a:pt x="2589331" y="2698"/>
                </a:lnTo>
                <a:lnTo>
                  <a:pt x="2598680" y="5395"/>
                </a:lnTo>
                <a:lnTo>
                  <a:pt x="2605699" y="8093"/>
                </a:lnTo>
                <a:lnTo>
                  <a:pt x="2611485" y="10790"/>
                </a:lnTo>
                <a:lnTo>
                  <a:pt x="2616467" y="13488"/>
                </a:lnTo>
                <a:lnTo>
                  <a:pt x="2620864" y="16185"/>
                </a:lnTo>
                <a:lnTo>
                  <a:pt x="2624809" y="18883"/>
                </a:lnTo>
                <a:lnTo>
                  <a:pt x="26283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067723" y="1051173"/>
            <a:ext cx="2666705" cy="21580"/>
          </a:xfrm>
          <a:custGeom>
            <a:avLst/>
            <a:gdLst/>
            <a:ahLst/>
            <a:cxnLst/>
            <a:rect l="l" t="t" r="r" b="b"/>
            <a:pathLst>
              <a:path w="2666705" h="21580">
                <a:moveTo>
                  <a:pt x="100330" y="0"/>
                </a:moveTo>
                <a:lnTo>
                  <a:pt x="2566375" y="0"/>
                </a:lnTo>
                <a:lnTo>
                  <a:pt x="2589484" y="2698"/>
                </a:lnTo>
                <a:lnTo>
                  <a:pt x="2598832" y="5395"/>
                </a:lnTo>
                <a:lnTo>
                  <a:pt x="2605851" y="8093"/>
                </a:lnTo>
                <a:lnTo>
                  <a:pt x="2611638" y="10790"/>
                </a:lnTo>
                <a:lnTo>
                  <a:pt x="2616619" y="13488"/>
                </a:lnTo>
                <a:lnTo>
                  <a:pt x="2621017" y="16185"/>
                </a:lnTo>
                <a:lnTo>
                  <a:pt x="2624962" y="18883"/>
                </a:lnTo>
                <a:lnTo>
                  <a:pt x="26285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2052340" y="2716709"/>
            <a:ext cx="2438400" cy="21580"/>
          </a:xfrm>
          <a:custGeom>
            <a:avLst/>
            <a:gdLst/>
            <a:ahLst/>
            <a:cxnLst/>
            <a:rect l="l" t="t" r="r" b="b"/>
            <a:pathLst>
              <a:path w="2438400" h="21580">
                <a:moveTo>
                  <a:pt x="100330" y="0"/>
                </a:moveTo>
                <a:lnTo>
                  <a:pt x="2338070" y="0"/>
                </a:lnTo>
                <a:lnTo>
                  <a:pt x="2361179" y="2698"/>
                </a:lnTo>
                <a:lnTo>
                  <a:pt x="2370527" y="5395"/>
                </a:lnTo>
                <a:lnTo>
                  <a:pt x="2377546" y="8093"/>
                </a:lnTo>
                <a:lnTo>
                  <a:pt x="2383333" y="10790"/>
                </a:lnTo>
                <a:lnTo>
                  <a:pt x="2388315" y="13488"/>
                </a:lnTo>
                <a:lnTo>
                  <a:pt x="2392712" y="16185"/>
                </a:lnTo>
                <a:lnTo>
                  <a:pt x="2396657" y="18883"/>
                </a:lnTo>
                <a:lnTo>
                  <a:pt x="2400236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4653260" y="2716709"/>
            <a:ext cx="2438400" cy="21580"/>
          </a:xfrm>
          <a:custGeom>
            <a:avLst/>
            <a:gdLst/>
            <a:ahLst/>
            <a:cxnLst/>
            <a:rect l="l" t="t" r="r" b="b"/>
            <a:pathLst>
              <a:path w="2438400" h="21580">
                <a:moveTo>
                  <a:pt x="100330" y="0"/>
                </a:moveTo>
                <a:lnTo>
                  <a:pt x="2338070" y="0"/>
                </a:lnTo>
                <a:lnTo>
                  <a:pt x="2361179" y="2698"/>
                </a:lnTo>
                <a:lnTo>
                  <a:pt x="2370527" y="5395"/>
                </a:lnTo>
                <a:lnTo>
                  <a:pt x="2377546" y="8093"/>
                </a:lnTo>
                <a:lnTo>
                  <a:pt x="2383333" y="10790"/>
                </a:lnTo>
                <a:lnTo>
                  <a:pt x="2388315" y="13488"/>
                </a:lnTo>
                <a:lnTo>
                  <a:pt x="2392712" y="16185"/>
                </a:lnTo>
                <a:lnTo>
                  <a:pt x="2396657" y="18883"/>
                </a:lnTo>
                <a:lnTo>
                  <a:pt x="2400236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41080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Deployment Models</a:t>
            </a:r>
            <a:endParaRPr lang="en-US" sz="2480" dirty="0"/>
          </a:p>
        </p:txBody>
      </p:sp>
      <p:sp>
        <p:nvSpPr>
          <p:cNvPr id="3" name="Text 1"/>
          <p:cNvSpPr/>
          <p:nvPr/>
        </p:nvSpPr>
        <p:spPr>
          <a:xfrm>
            <a:off x="457200" y="775543"/>
            <a:ext cx="40005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40284"/>
            <a:ext cx="9052560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to deploying cloud infrastructure — each balancing control, cost, and collaboration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4572000" y="1000720"/>
            <a:ext cx="7590" cy="3685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8BDF8">
                  <a:alpha val="20000"/>
                </a:srgbClr>
              </a:gs>
              <a:gs pos="8000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50420" y="1000720"/>
            <a:ext cx="43160" cy="4316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50420" y="4643140"/>
            <a:ext cx="43160" cy="4316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244650"/>
            <a:ext cx="43691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57200" y="1511796"/>
            <a:ext cx="3971925" cy="1794272"/>
          </a:xfrm>
          <a:prstGeom prst="roundRect">
            <a:avLst>
              <a:gd name="adj" fmla="val 4813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185" y="169277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351" y="1783937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4185" y="2094012"/>
            <a:ext cx="3892612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Cloud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624185" y="2359670"/>
            <a:ext cx="3710714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operated by AWS, Azure, GCP. Best for: stateless workloads, dev/test, SaaS backends. Trade-off: less control over data residency.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624185" y="2965103"/>
            <a:ext cx="400175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8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·  Azure  ·  GCP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57200" y="3434209"/>
            <a:ext cx="3971925" cy="1577132"/>
          </a:xfrm>
          <a:prstGeom prst="roundRect">
            <a:avLst>
              <a:gd name="adj" fmla="val 5476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4185" y="361518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351" y="3706350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4185" y="4016425"/>
            <a:ext cx="3892612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Community Cloud</a:t>
            </a:r>
            <a:endParaRPr lang="en-US" sz="1460" dirty="0"/>
          </a:p>
        </p:txBody>
      </p:sp>
      <p:sp>
        <p:nvSpPr>
          <p:cNvPr id="19" name="Text 15"/>
          <p:cNvSpPr/>
          <p:nvPr/>
        </p:nvSpPr>
        <p:spPr>
          <a:xfrm>
            <a:off x="624185" y="4282083"/>
            <a:ext cx="3710714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tenancy among organizations with common compliance needs (HIPAA, FedRAMP). Managed by consortium or third-party provider.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4714875" y="1244650"/>
            <a:ext cx="43691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&amp; BLENDED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4714875" y="1511796"/>
            <a:ext cx="3971925" cy="1577132"/>
          </a:xfrm>
          <a:prstGeom prst="roundRect">
            <a:avLst>
              <a:gd name="adj" fmla="val 5476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81860" y="169277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3026" y="1783937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81860" y="2094012"/>
            <a:ext cx="3892612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Cloud</a:t>
            </a:r>
            <a:endParaRPr lang="en-US" sz="1460" dirty="0"/>
          </a:p>
        </p:txBody>
      </p:sp>
      <p:sp>
        <p:nvSpPr>
          <p:cNvPr id="25" name="Text 20"/>
          <p:cNvSpPr/>
          <p:nvPr/>
        </p:nvSpPr>
        <p:spPr>
          <a:xfrm>
            <a:off x="4881860" y="2359670"/>
            <a:ext cx="3710714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infrastructure (on-prem or hosted). Technologies: OpenStack, VMware vSphere. Best for: regulated industries, low-latency workloads, data sovereignty requirements.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4714875" y="3217069"/>
            <a:ext cx="3971925" cy="1577132"/>
          </a:xfrm>
          <a:prstGeom prst="roundRect">
            <a:avLst>
              <a:gd name="adj" fmla="val 5476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81860" y="339804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3026" y="3489210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81860" y="3799284"/>
            <a:ext cx="3892612" cy="222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Cloud</a:t>
            </a:r>
            <a:endParaRPr lang="en-US" sz="1460" dirty="0"/>
          </a:p>
        </p:txBody>
      </p:sp>
      <p:sp>
        <p:nvSpPr>
          <p:cNvPr id="30" name="Text 24"/>
          <p:cNvSpPr/>
          <p:nvPr/>
        </p:nvSpPr>
        <p:spPr>
          <a:xfrm>
            <a:off x="4881860" y="4064943"/>
            <a:ext cx="3710714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span public and private via VPN, ExpressRoute, or Direct Connect. Enables cloud bursting, DR, and gradual migration strategies.</a:t>
            </a:r>
            <a:endParaRPr lang="en-US" sz="960" dirty="0"/>
          </a:p>
        </p:txBody>
      </p:sp>
      <p:sp>
        <p:nvSpPr>
          <p:cNvPr id="31" name="Text 25"/>
          <p:cNvSpPr/>
          <p:nvPr/>
        </p:nvSpPr>
        <p:spPr>
          <a:xfrm>
            <a:off x="466725" y="1521321"/>
            <a:ext cx="3952875" cy="21580"/>
          </a:xfrm>
          <a:custGeom>
            <a:avLst/>
            <a:gdLst/>
            <a:ahLst/>
            <a:cxnLst/>
            <a:rect l="l" t="t" r="r" b="b"/>
            <a:pathLst>
              <a:path w="3952875" h="21580">
                <a:moveTo>
                  <a:pt x="86360" y="0"/>
                </a:moveTo>
                <a:lnTo>
                  <a:pt x="3866515" y="0"/>
                </a:lnTo>
                <a:lnTo>
                  <a:pt x="3887931" y="2698"/>
                </a:lnTo>
                <a:lnTo>
                  <a:pt x="3896560" y="5395"/>
                </a:lnTo>
                <a:lnTo>
                  <a:pt x="3903015" y="8093"/>
                </a:lnTo>
                <a:lnTo>
                  <a:pt x="3908315" y="10790"/>
                </a:lnTo>
                <a:lnTo>
                  <a:pt x="3912858" y="13488"/>
                </a:lnTo>
                <a:lnTo>
                  <a:pt x="3916849" y="16185"/>
                </a:lnTo>
                <a:lnTo>
                  <a:pt x="3920412" y="18883"/>
                </a:lnTo>
                <a:lnTo>
                  <a:pt x="39236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6725" y="3443734"/>
            <a:ext cx="3952875" cy="21580"/>
          </a:xfrm>
          <a:custGeom>
            <a:avLst/>
            <a:gdLst/>
            <a:ahLst/>
            <a:cxnLst/>
            <a:rect l="l" t="t" r="r" b="b"/>
            <a:pathLst>
              <a:path w="3952875" h="21580">
                <a:moveTo>
                  <a:pt x="86360" y="0"/>
                </a:moveTo>
                <a:lnTo>
                  <a:pt x="3866515" y="0"/>
                </a:lnTo>
                <a:lnTo>
                  <a:pt x="3887931" y="2698"/>
                </a:lnTo>
                <a:lnTo>
                  <a:pt x="3896560" y="5395"/>
                </a:lnTo>
                <a:lnTo>
                  <a:pt x="3903015" y="8093"/>
                </a:lnTo>
                <a:lnTo>
                  <a:pt x="3908315" y="10790"/>
                </a:lnTo>
                <a:lnTo>
                  <a:pt x="3912858" y="13488"/>
                </a:lnTo>
                <a:lnTo>
                  <a:pt x="3916849" y="16185"/>
                </a:lnTo>
                <a:lnTo>
                  <a:pt x="3920412" y="18883"/>
                </a:lnTo>
                <a:lnTo>
                  <a:pt x="39236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724400" y="1521321"/>
            <a:ext cx="3952875" cy="21580"/>
          </a:xfrm>
          <a:custGeom>
            <a:avLst/>
            <a:gdLst/>
            <a:ahLst/>
            <a:cxnLst/>
            <a:rect l="l" t="t" r="r" b="b"/>
            <a:pathLst>
              <a:path w="3952875" h="21580">
                <a:moveTo>
                  <a:pt x="86360" y="0"/>
                </a:moveTo>
                <a:lnTo>
                  <a:pt x="3866515" y="0"/>
                </a:lnTo>
                <a:lnTo>
                  <a:pt x="3887931" y="2698"/>
                </a:lnTo>
                <a:lnTo>
                  <a:pt x="3896560" y="5395"/>
                </a:lnTo>
                <a:lnTo>
                  <a:pt x="3903015" y="8093"/>
                </a:lnTo>
                <a:lnTo>
                  <a:pt x="3908315" y="10790"/>
                </a:lnTo>
                <a:lnTo>
                  <a:pt x="3912858" y="13488"/>
                </a:lnTo>
                <a:lnTo>
                  <a:pt x="3916849" y="16185"/>
                </a:lnTo>
                <a:lnTo>
                  <a:pt x="3920412" y="18883"/>
                </a:lnTo>
                <a:lnTo>
                  <a:pt x="39236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724400" y="3226594"/>
            <a:ext cx="3952875" cy="21580"/>
          </a:xfrm>
          <a:custGeom>
            <a:avLst/>
            <a:gdLst/>
            <a:ahLst/>
            <a:cxnLst/>
            <a:rect l="l" t="t" r="r" b="b"/>
            <a:pathLst>
              <a:path w="3952875" h="21580">
                <a:moveTo>
                  <a:pt x="86360" y="0"/>
                </a:moveTo>
                <a:lnTo>
                  <a:pt x="3866515" y="0"/>
                </a:lnTo>
                <a:lnTo>
                  <a:pt x="3887931" y="2698"/>
                </a:lnTo>
                <a:lnTo>
                  <a:pt x="3896560" y="5395"/>
                </a:lnTo>
                <a:lnTo>
                  <a:pt x="3903015" y="8093"/>
                </a:lnTo>
                <a:lnTo>
                  <a:pt x="3908315" y="10790"/>
                </a:lnTo>
                <a:lnTo>
                  <a:pt x="3912858" y="13488"/>
                </a:lnTo>
                <a:lnTo>
                  <a:pt x="3916849" y="16185"/>
                </a:lnTo>
                <a:lnTo>
                  <a:pt x="3920412" y="18883"/>
                </a:lnTo>
                <a:lnTo>
                  <a:pt x="39236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13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45"/>
              </a:lnSpc>
              <a:spcAft>
                <a:spcPts val="450"/>
              </a:spcAft>
              <a:buNone/>
            </a:pPr>
            <a:r>
              <a:rPr lang="en-US" sz="2030" b="1" spc="1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Service Models: IaaS, PaaS, SaaS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286250" y="786705"/>
            <a:ext cx="5715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101626"/>
            <a:ext cx="2628900" cy="3072110"/>
          </a:xfrm>
          <a:prstGeom prst="roundRect">
            <a:avLst>
              <a:gd name="adj" fmla="val 2705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101626"/>
            <a:ext cx="38100" cy="3072110"/>
          </a:xfrm>
          <a:custGeom>
            <a:avLst/>
            <a:gdLst/>
            <a:ahLst/>
            <a:cxnLst/>
            <a:rect l="l" t="t" r="r" b="b"/>
            <a:pathLst>
              <a:path w="38100" h="3072110">
                <a:moveTo>
                  <a:pt x="0" y="71120"/>
                </a:moveTo>
                <a:lnTo>
                  <a:pt x="4763" y="45532"/>
                </a:lnTo>
                <a:lnTo>
                  <a:pt x="9525" y="35566"/>
                </a:lnTo>
                <a:lnTo>
                  <a:pt x="14288" y="28363"/>
                </a:lnTo>
                <a:lnTo>
                  <a:pt x="19050" y="22677"/>
                </a:lnTo>
                <a:lnTo>
                  <a:pt x="23813" y="18016"/>
                </a:lnTo>
                <a:lnTo>
                  <a:pt x="28575" y="14129"/>
                </a:lnTo>
                <a:lnTo>
                  <a:pt x="33338" y="10866"/>
                </a:lnTo>
                <a:lnTo>
                  <a:pt x="38100" y="8130"/>
                </a:lnTo>
                <a:lnTo>
                  <a:pt x="38100" y="3063980"/>
                </a:lnTo>
                <a:lnTo>
                  <a:pt x="33338" y="3061244"/>
                </a:lnTo>
                <a:lnTo>
                  <a:pt x="28575" y="3057981"/>
                </a:lnTo>
                <a:lnTo>
                  <a:pt x="23813" y="3054094"/>
                </a:lnTo>
                <a:lnTo>
                  <a:pt x="19050" y="3049434"/>
                </a:lnTo>
                <a:lnTo>
                  <a:pt x="14288" y="3043747"/>
                </a:lnTo>
                <a:lnTo>
                  <a:pt x="9525" y="3036544"/>
                </a:lnTo>
                <a:lnTo>
                  <a:pt x="4763" y="3026578"/>
                </a:lnTo>
                <a:lnTo>
                  <a:pt x="0" y="300099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8770" y="1330226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645" y="1473101"/>
            <a:ext cx="171450" cy="171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8770" y="1915567"/>
            <a:ext cx="2342829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460" b="1" spc="3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38770" y="2207568"/>
            <a:ext cx="2408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1F5F9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38770" y="2467868"/>
            <a:ext cx="2233351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compute, block/object storage, and virtual networking.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owns: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patches, runtime, middleware, app deployment.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VMs, VPCs, load balancers.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257550" y="1101626"/>
            <a:ext cx="2628900" cy="3072110"/>
          </a:xfrm>
          <a:prstGeom prst="roundRect">
            <a:avLst>
              <a:gd name="adj" fmla="val 2705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57550" y="1101626"/>
            <a:ext cx="38100" cy="3072110"/>
          </a:xfrm>
          <a:custGeom>
            <a:avLst/>
            <a:gdLst/>
            <a:ahLst/>
            <a:cxnLst/>
            <a:rect l="l" t="t" r="r" b="b"/>
            <a:pathLst>
              <a:path w="38100" h="3072110">
                <a:moveTo>
                  <a:pt x="0" y="71120"/>
                </a:moveTo>
                <a:lnTo>
                  <a:pt x="4763" y="45532"/>
                </a:lnTo>
                <a:lnTo>
                  <a:pt x="9525" y="35566"/>
                </a:lnTo>
                <a:lnTo>
                  <a:pt x="14288" y="28363"/>
                </a:lnTo>
                <a:lnTo>
                  <a:pt x="19050" y="22677"/>
                </a:lnTo>
                <a:lnTo>
                  <a:pt x="23813" y="18016"/>
                </a:lnTo>
                <a:lnTo>
                  <a:pt x="28575" y="14129"/>
                </a:lnTo>
                <a:lnTo>
                  <a:pt x="33338" y="10866"/>
                </a:lnTo>
                <a:lnTo>
                  <a:pt x="38100" y="8130"/>
                </a:lnTo>
                <a:lnTo>
                  <a:pt x="38100" y="3063980"/>
                </a:lnTo>
                <a:lnTo>
                  <a:pt x="33338" y="3061244"/>
                </a:lnTo>
                <a:lnTo>
                  <a:pt x="28575" y="3057981"/>
                </a:lnTo>
                <a:lnTo>
                  <a:pt x="23813" y="3054094"/>
                </a:lnTo>
                <a:lnTo>
                  <a:pt x="19050" y="3049434"/>
                </a:lnTo>
                <a:lnTo>
                  <a:pt x="14288" y="3043747"/>
                </a:lnTo>
                <a:lnTo>
                  <a:pt x="9525" y="3036544"/>
                </a:lnTo>
                <a:lnTo>
                  <a:pt x="4763" y="3026578"/>
                </a:lnTo>
                <a:lnTo>
                  <a:pt x="0" y="300099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96270" y="1330226"/>
            <a:ext cx="457200" cy="4572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9145" y="1473101"/>
            <a:ext cx="171450" cy="171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6270" y="1915567"/>
            <a:ext cx="2342829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460" b="1" spc="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60" dirty="0"/>
          </a:p>
        </p:txBody>
      </p:sp>
      <p:sp>
        <p:nvSpPr>
          <p:cNvPr id="16" name="Text 12"/>
          <p:cNvSpPr/>
          <p:nvPr/>
        </p:nvSpPr>
        <p:spPr>
          <a:xfrm>
            <a:off x="3496270" y="2207568"/>
            <a:ext cx="2408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1F5F9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3496270" y="2467868"/>
            <a:ext cx="2233351" cy="902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runtime and middleware.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owns: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 code and data. Provider handles OS, scaling, patching.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managed containers, serverless, managed databases.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6115050" y="1101626"/>
            <a:ext cx="2628900" cy="3072110"/>
          </a:xfrm>
          <a:prstGeom prst="roundRect">
            <a:avLst>
              <a:gd name="adj" fmla="val 2705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115050" y="1101626"/>
            <a:ext cx="38100" cy="3072110"/>
          </a:xfrm>
          <a:custGeom>
            <a:avLst/>
            <a:gdLst/>
            <a:ahLst/>
            <a:cxnLst/>
            <a:rect l="l" t="t" r="r" b="b"/>
            <a:pathLst>
              <a:path w="38100" h="3072110">
                <a:moveTo>
                  <a:pt x="0" y="71120"/>
                </a:moveTo>
                <a:lnTo>
                  <a:pt x="4763" y="45532"/>
                </a:lnTo>
                <a:lnTo>
                  <a:pt x="9525" y="35566"/>
                </a:lnTo>
                <a:lnTo>
                  <a:pt x="14288" y="28363"/>
                </a:lnTo>
                <a:lnTo>
                  <a:pt x="19050" y="22677"/>
                </a:lnTo>
                <a:lnTo>
                  <a:pt x="23813" y="18016"/>
                </a:lnTo>
                <a:lnTo>
                  <a:pt x="28575" y="14129"/>
                </a:lnTo>
                <a:lnTo>
                  <a:pt x="33338" y="10866"/>
                </a:lnTo>
                <a:lnTo>
                  <a:pt x="38100" y="8130"/>
                </a:lnTo>
                <a:lnTo>
                  <a:pt x="38100" y="3063980"/>
                </a:lnTo>
                <a:lnTo>
                  <a:pt x="33338" y="3061244"/>
                </a:lnTo>
                <a:lnTo>
                  <a:pt x="28575" y="3057981"/>
                </a:lnTo>
                <a:lnTo>
                  <a:pt x="23813" y="3054094"/>
                </a:lnTo>
                <a:lnTo>
                  <a:pt x="19050" y="3049434"/>
                </a:lnTo>
                <a:lnTo>
                  <a:pt x="14288" y="3043747"/>
                </a:lnTo>
                <a:lnTo>
                  <a:pt x="9525" y="3036544"/>
                </a:lnTo>
                <a:lnTo>
                  <a:pt x="4763" y="3026578"/>
                </a:lnTo>
                <a:lnTo>
                  <a:pt x="0" y="300099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353770" y="1330226"/>
            <a:ext cx="457200" cy="4572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6645" y="1473101"/>
            <a:ext cx="171450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3770" y="1915567"/>
            <a:ext cx="2342829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0"/>
              </a:lnSpc>
              <a:buNone/>
            </a:pPr>
            <a:r>
              <a:rPr lang="en-US" sz="1460" b="1" spc="3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60" dirty="0"/>
          </a:p>
        </p:txBody>
      </p:sp>
      <p:sp>
        <p:nvSpPr>
          <p:cNvPr id="23" name="Text 18"/>
          <p:cNvSpPr/>
          <p:nvPr/>
        </p:nvSpPr>
        <p:spPr>
          <a:xfrm>
            <a:off x="6353770" y="2207568"/>
            <a:ext cx="2408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1F5F9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840" dirty="0"/>
          </a:p>
        </p:txBody>
      </p:sp>
      <p:sp>
        <p:nvSpPr>
          <p:cNvPr id="24" name="Text 19"/>
          <p:cNvSpPr/>
          <p:nvPr/>
        </p:nvSpPr>
        <p:spPr>
          <a:xfrm>
            <a:off x="6353770" y="2467868"/>
            <a:ext cx="2233351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application stack.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interacts via: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APIs, webhooks, SSO/SAML integration. </a:t>
            </a:r>
            <a:pPr algn="l" indent="0" marL="0">
              <a:lnSpc>
                <a:spcPts val="1353"/>
              </a:lnSpc>
              <a:buNone/>
            </a:pPr>
            <a:r>
              <a:rPr lang="en-US" sz="8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pPr algn="l" indent="0" marL="0">
              <a:lnSpc>
                <a:spcPts val="1353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identity providers, monitoring dashboards, collaboration tools.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-17145" y="4764435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spcBef>
                <a:spcPts val="1010"/>
              </a:spcBef>
              <a:buNone/>
            </a:pPr>
            <a:r>
              <a:rPr lang="en-US" sz="790" spc="1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shifts upward — less ops overhead, less infrastructure control.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1207145" cy="264393"/>
          </a:xfrm>
          <a:prstGeom prst="roundRect">
            <a:avLst>
              <a:gd name="adj" fmla="val 54279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790" dirty="0"/>
          </a:p>
        </p:txBody>
      </p:sp>
      <p:sp>
        <p:nvSpPr>
          <p:cNvPr id="3" name="Text 1"/>
          <p:cNvSpPr/>
          <p:nvPr/>
        </p:nvSpPr>
        <p:spPr>
          <a:xfrm>
            <a:off x="457200" y="569268"/>
            <a:ext cx="8641080" cy="394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spcAft>
                <a:spcPts val="230"/>
              </a:spcAft>
              <a:buNone/>
            </a:pPr>
            <a:r>
              <a:rPr lang="en-US" sz="270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IaaS — </a:t>
            </a:r>
            <a:pPr algn="l" indent="0" marL="0">
              <a:lnSpc>
                <a:spcPts val="3105"/>
              </a:lnSpc>
              <a:spcAft>
                <a:spcPts val="230"/>
              </a:spcAft>
              <a:buNone/>
            </a:pPr>
            <a:r>
              <a:rPr lang="en-US" sz="2700" spc="-30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</a:t>
            </a:r>
            <a:pPr algn="l" indent="0" marL="0">
              <a:lnSpc>
                <a:spcPts val="3105"/>
              </a:lnSpc>
              <a:spcAft>
                <a:spcPts val="230"/>
              </a:spcAft>
              <a:buNone/>
            </a:pPr>
            <a:r>
              <a:rPr lang="en-US" sz="270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as a Service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6154"/>
            <a:ext cx="8229600" cy="635050"/>
          </a:xfrm>
          <a:prstGeom prst="roundRect">
            <a:avLst>
              <a:gd name="adj" fmla="val 1579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" y="1245989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341" y="1337155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6566" y="1346299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269206" y="1245989"/>
            <a:ext cx="7381351" cy="436148"/>
          </a:xfrm>
          <a:prstGeom prst="rect">
            <a:avLst/>
          </a:prstGeom>
          <a:noFill/>
          <a:ln/>
        </p:spPr>
        <p:txBody>
          <a:bodyPr wrap="squar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virtual machines, block storage (EBS, Managed Disks), object storage (S3, Blob), and software-defined networking on demand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842195"/>
            <a:ext cx="8229600" cy="635050"/>
          </a:xfrm>
          <a:prstGeom prst="roundRect">
            <a:avLst>
              <a:gd name="adj" fmla="val 1579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8175" y="1952030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341" y="2043196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6566" y="2052340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269206" y="1952030"/>
            <a:ext cx="7381351" cy="436148"/>
          </a:xfrm>
          <a:prstGeom prst="rect">
            <a:avLst/>
          </a:prstGeom>
          <a:noFill/>
          <a:ln/>
        </p:spPr>
        <p:txBody>
          <a:bodyPr wrap="squar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OS, security patches, runtime, middleware, application code, and data — full stack ownership above the hypervisor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2548235"/>
            <a:ext cx="8229600" cy="534591"/>
          </a:xfrm>
          <a:prstGeom prst="roundRect">
            <a:avLst>
              <a:gd name="adj" fmla="val 18768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8175" y="2658070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341" y="2749236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6566" y="2708225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269206" y="2658070"/>
            <a:ext cx="7719626" cy="214610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physical servers, networking, power, cooling, and virtualization layer (Xen, KVM, Hyper-V)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153817"/>
            <a:ext cx="8229600" cy="635050"/>
          </a:xfrm>
          <a:prstGeom prst="roundRect">
            <a:avLst>
              <a:gd name="adj" fmla="val 15799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8175" y="3263652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341" y="3354818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6566" y="3363962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1269206" y="3263652"/>
            <a:ext cx="7381351" cy="436148"/>
          </a:xfrm>
          <a:prstGeom prst="rect">
            <a:avLst/>
          </a:prstGeom>
          <a:noFill/>
          <a:ln/>
        </p:spPr>
        <p:txBody>
          <a:bodyPr wrap="squar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Code: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environments with Terraform, Pulumi, or CloudFormation — version-controlled, repeatable deployments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3859857"/>
            <a:ext cx="8229600" cy="534591"/>
          </a:xfrm>
          <a:prstGeom prst="roundRect">
            <a:avLst>
              <a:gd name="adj" fmla="val 18768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38175" y="396969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341" y="4060859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6566" y="4019848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1269206" y="3969693"/>
            <a:ext cx="7652504" cy="214610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CI/CD build runners, HPC clusters, custom networking topologies, GPU workloads for ML training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4465439"/>
            <a:ext cx="8229600" cy="534591"/>
          </a:xfrm>
          <a:prstGeom prst="roundRect">
            <a:avLst>
              <a:gd name="adj" fmla="val 18768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38175" y="4575274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341" y="4666440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6566" y="4625429"/>
            <a:ext cx="29170" cy="21461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1269206" y="4575274"/>
            <a:ext cx="5812721" cy="214610"/>
          </a:xfrm>
          <a:prstGeom prst="rect">
            <a:avLst/>
          </a:prstGeom>
          <a:noFill/>
          <a:ln/>
        </p:spPr>
        <p:txBody>
          <a:bodyPr wrap="none" lIns="0" tIns="1397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 EC2, Azure VMs, Google Compute Engine, DigitalOcean Droplets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1760"/>
            <a:ext cx="40005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7251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spcAft>
                <a:spcPts val="230"/>
              </a:spcAft>
              <a:buNone/>
            </a:pPr>
            <a:r>
              <a:rPr lang="en-US" sz="2250" spc="-22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PaaS — </a:t>
            </a:r>
            <a:pPr algn="l" indent="0" marL="0">
              <a:lnSpc>
                <a:spcPts val="3375"/>
              </a:lnSpc>
              <a:spcAft>
                <a:spcPts val="230"/>
              </a:spcAft>
              <a:buNone/>
            </a:pPr>
            <a:r>
              <a:rPr lang="en-US" sz="2250" spc="-22" kern="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as a Service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845046"/>
            <a:ext cx="905256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deploy, and scale applications without managing underlying infrastructure</a:t>
            </a:r>
            <a:endParaRPr lang="en-US" sz="1130" dirty="0"/>
          </a:p>
        </p:txBody>
      </p:sp>
      <p:sp>
        <p:nvSpPr>
          <p:cNvPr id="5" name="Text 3"/>
          <p:cNvSpPr/>
          <p:nvPr/>
        </p:nvSpPr>
        <p:spPr>
          <a:xfrm>
            <a:off x="457200" y="1398389"/>
            <a:ext cx="4057650" cy="1055936"/>
          </a:xfrm>
          <a:prstGeom prst="roundRect">
            <a:avLst>
              <a:gd name="adj" fmla="val 9501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8175" y="153605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341" y="1627221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1236" y="1536055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Development Platform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1081236" y="1786682"/>
            <a:ext cx="3317691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platform abstracts OS, runtime, and middleware — engineers deploy code directly via Git push, container images, or CI/CD pipelines.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629150" y="1398389"/>
            <a:ext cx="4057650" cy="1055936"/>
          </a:xfrm>
          <a:prstGeom prst="roundRect">
            <a:avLst>
              <a:gd name="adj" fmla="val 9501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10125" y="153605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291" y="1627221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3186" y="1536055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Manage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5253186" y="1786682"/>
            <a:ext cx="3317691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data models, API design, and business rules.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457200" y="2568625"/>
            <a:ext cx="4057650" cy="879277"/>
          </a:xfrm>
          <a:prstGeom prst="roundRect">
            <a:avLst>
              <a:gd name="adj" fmla="val 1141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38175" y="270629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341" y="2797457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81236" y="2706291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Provider Manages</a:t>
            </a:r>
            <a:endParaRPr lang="en-US" sz="1130" dirty="0"/>
          </a:p>
        </p:txBody>
      </p:sp>
      <p:sp>
        <p:nvSpPr>
          <p:cNvPr id="19" name="Text 14"/>
          <p:cNvSpPr/>
          <p:nvPr/>
        </p:nvSpPr>
        <p:spPr>
          <a:xfrm>
            <a:off x="1081236" y="2956917"/>
            <a:ext cx="3317691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patching, auto-scaling, load balancing, TLS termination, and runtime updates.</a:t>
            </a:r>
            <a:endParaRPr lang="en-US" sz="960" dirty="0"/>
          </a:p>
        </p:txBody>
      </p:sp>
      <p:sp>
        <p:nvSpPr>
          <p:cNvPr id="20" name="Text 15"/>
          <p:cNvSpPr/>
          <p:nvPr/>
        </p:nvSpPr>
        <p:spPr>
          <a:xfrm>
            <a:off x="4629150" y="2568625"/>
            <a:ext cx="4057650" cy="879277"/>
          </a:xfrm>
          <a:prstGeom prst="roundRect">
            <a:avLst>
              <a:gd name="adj" fmla="val 1141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810125" y="270629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291" y="2797457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3186" y="2706291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Built-In Services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253186" y="2956917"/>
            <a:ext cx="3317691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databases (RDS, Cloud SQL), message queues (SQS, Pub/Sub), caching (ElastiCache, Memorystore).</a:t>
            </a:r>
            <a:endParaRPr lang="en-US" sz="960" dirty="0"/>
          </a:p>
        </p:txBody>
      </p:sp>
      <p:sp>
        <p:nvSpPr>
          <p:cNvPr id="25" name="Text 19"/>
          <p:cNvSpPr/>
          <p:nvPr/>
        </p:nvSpPr>
        <p:spPr>
          <a:xfrm>
            <a:off x="457200" y="3562201"/>
            <a:ext cx="4057650" cy="879277"/>
          </a:xfrm>
          <a:prstGeom prst="roundRect">
            <a:avLst>
              <a:gd name="adj" fmla="val 1141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38175" y="3699867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341" y="3791033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81236" y="3699867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Cases</a:t>
            </a:r>
            <a:endParaRPr lang="en-US" sz="1130" dirty="0"/>
          </a:p>
        </p:txBody>
      </p:sp>
      <p:sp>
        <p:nvSpPr>
          <p:cNvPr id="29" name="Text 22"/>
          <p:cNvSpPr/>
          <p:nvPr/>
        </p:nvSpPr>
        <p:spPr>
          <a:xfrm>
            <a:off x="1081236" y="3950494"/>
            <a:ext cx="3317691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architectures, REST/GraphQL API backends, event-driven serverless functions, blue/green deployments.</a:t>
            </a:r>
            <a:endParaRPr lang="en-US" sz="960" dirty="0"/>
          </a:p>
        </p:txBody>
      </p:sp>
      <p:sp>
        <p:nvSpPr>
          <p:cNvPr id="30" name="Text 23"/>
          <p:cNvSpPr/>
          <p:nvPr/>
        </p:nvSpPr>
        <p:spPr>
          <a:xfrm>
            <a:off x="4629150" y="3562201"/>
            <a:ext cx="4057650" cy="879277"/>
          </a:xfrm>
          <a:prstGeom prst="roundRect">
            <a:avLst>
              <a:gd name="adj" fmla="val 11410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810125" y="3699867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1291" y="3791033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3186" y="3699867"/>
            <a:ext cx="357790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80"/>
              </a:spcAft>
              <a:buNone/>
            </a:pPr>
            <a:r>
              <a:rPr lang="en-US" sz="1130" b="1" spc="11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Examples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5253186" y="3950494"/>
            <a:ext cx="3317691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60" dirty="0"/>
          </a:p>
        </p:txBody>
      </p:sp>
      <p:sp>
        <p:nvSpPr>
          <p:cNvPr id="35" name="Text 27"/>
          <p:cNvSpPr/>
          <p:nvPr/>
        </p:nvSpPr>
        <p:spPr>
          <a:xfrm>
            <a:off x="457200" y="4693444"/>
            <a:ext cx="8229600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8977" y="4814376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70664" y="4789289"/>
            <a:ext cx="558074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19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lets engineers ship faster by offloading infrastructure concerns to the cloud provider.</a:t>
            </a:r>
            <a:endParaRPr lang="en-US" sz="960" dirty="0"/>
          </a:p>
        </p:txBody>
      </p:sp>
      <p:sp>
        <p:nvSpPr>
          <p:cNvPr id="38" name="Text 29"/>
          <p:cNvSpPr/>
          <p:nvPr/>
        </p:nvSpPr>
        <p:spPr>
          <a:xfrm>
            <a:off x="466725" y="1407914"/>
            <a:ext cx="29170" cy="1036882"/>
          </a:xfrm>
          <a:custGeom>
            <a:avLst/>
            <a:gdLst/>
            <a:ahLst/>
            <a:cxnLst/>
            <a:rect l="l" t="t" r="r" b="b"/>
            <a:pathLst>
              <a:path w="29170" h="1036882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007280"/>
                </a:lnTo>
                <a:lnTo>
                  <a:pt x="25524" y="1003412"/>
                </a:lnTo>
                <a:lnTo>
                  <a:pt x="21878" y="999093"/>
                </a:lnTo>
                <a:lnTo>
                  <a:pt x="18231" y="994223"/>
                </a:lnTo>
                <a:lnTo>
                  <a:pt x="14585" y="988648"/>
                </a:lnTo>
                <a:lnTo>
                  <a:pt x="10939" y="982108"/>
                </a:lnTo>
                <a:lnTo>
                  <a:pt x="7293" y="974104"/>
                </a:lnTo>
                <a:lnTo>
                  <a:pt x="3646" y="963355"/>
                </a:lnTo>
                <a:lnTo>
                  <a:pt x="0" y="93655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4638675" y="1407914"/>
            <a:ext cx="29170" cy="1036882"/>
          </a:xfrm>
          <a:custGeom>
            <a:avLst/>
            <a:gdLst/>
            <a:ahLst/>
            <a:cxnLst/>
            <a:rect l="l" t="t" r="r" b="b"/>
            <a:pathLst>
              <a:path w="29170" h="1036882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007280"/>
                </a:lnTo>
                <a:lnTo>
                  <a:pt x="25524" y="1003412"/>
                </a:lnTo>
                <a:lnTo>
                  <a:pt x="21878" y="999093"/>
                </a:lnTo>
                <a:lnTo>
                  <a:pt x="18231" y="994223"/>
                </a:lnTo>
                <a:lnTo>
                  <a:pt x="14585" y="988648"/>
                </a:lnTo>
                <a:lnTo>
                  <a:pt x="10939" y="982108"/>
                </a:lnTo>
                <a:lnTo>
                  <a:pt x="7293" y="974104"/>
                </a:lnTo>
                <a:lnTo>
                  <a:pt x="3646" y="963355"/>
                </a:lnTo>
                <a:lnTo>
                  <a:pt x="0" y="93655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466725" y="2578150"/>
            <a:ext cx="29170" cy="860227"/>
          </a:xfrm>
          <a:custGeom>
            <a:avLst/>
            <a:gdLst/>
            <a:ahLst/>
            <a:cxnLst/>
            <a:rect l="l" t="t" r="r" b="b"/>
            <a:pathLst>
              <a:path w="29170" h="86022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830624"/>
                </a:lnTo>
                <a:lnTo>
                  <a:pt x="25524" y="826756"/>
                </a:lnTo>
                <a:lnTo>
                  <a:pt x="21878" y="822438"/>
                </a:lnTo>
                <a:lnTo>
                  <a:pt x="18231" y="817568"/>
                </a:lnTo>
                <a:lnTo>
                  <a:pt x="14585" y="811992"/>
                </a:lnTo>
                <a:lnTo>
                  <a:pt x="10939" y="805453"/>
                </a:lnTo>
                <a:lnTo>
                  <a:pt x="7293" y="797449"/>
                </a:lnTo>
                <a:lnTo>
                  <a:pt x="3646" y="786699"/>
                </a:lnTo>
                <a:lnTo>
                  <a:pt x="0" y="75989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638675" y="2578150"/>
            <a:ext cx="29170" cy="860227"/>
          </a:xfrm>
          <a:custGeom>
            <a:avLst/>
            <a:gdLst/>
            <a:ahLst/>
            <a:cxnLst/>
            <a:rect l="l" t="t" r="r" b="b"/>
            <a:pathLst>
              <a:path w="29170" h="86022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830624"/>
                </a:lnTo>
                <a:lnTo>
                  <a:pt x="25524" y="826756"/>
                </a:lnTo>
                <a:lnTo>
                  <a:pt x="21878" y="822438"/>
                </a:lnTo>
                <a:lnTo>
                  <a:pt x="18231" y="817568"/>
                </a:lnTo>
                <a:lnTo>
                  <a:pt x="14585" y="811992"/>
                </a:lnTo>
                <a:lnTo>
                  <a:pt x="10939" y="805453"/>
                </a:lnTo>
                <a:lnTo>
                  <a:pt x="7293" y="797449"/>
                </a:lnTo>
                <a:lnTo>
                  <a:pt x="3646" y="786699"/>
                </a:lnTo>
                <a:lnTo>
                  <a:pt x="0" y="75989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466725" y="3571726"/>
            <a:ext cx="29170" cy="860227"/>
          </a:xfrm>
          <a:custGeom>
            <a:avLst/>
            <a:gdLst/>
            <a:ahLst/>
            <a:cxnLst/>
            <a:rect l="l" t="t" r="r" b="b"/>
            <a:pathLst>
              <a:path w="29170" h="86022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830624"/>
                </a:lnTo>
                <a:lnTo>
                  <a:pt x="25524" y="826756"/>
                </a:lnTo>
                <a:lnTo>
                  <a:pt x="21878" y="822438"/>
                </a:lnTo>
                <a:lnTo>
                  <a:pt x="18231" y="817568"/>
                </a:lnTo>
                <a:lnTo>
                  <a:pt x="14585" y="811992"/>
                </a:lnTo>
                <a:lnTo>
                  <a:pt x="10939" y="805453"/>
                </a:lnTo>
                <a:lnTo>
                  <a:pt x="7293" y="797449"/>
                </a:lnTo>
                <a:lnTo>
                  <a:pt x="3646" y="786699"/>
                </a:lnTo>
                <a:lnTo>
                  <a:pt x="0" y="75989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4638675" y="3571726"/>
            <a:ext cx="29170" cy="860227"/>
          </a:xfrm>
          <a:custGeom>
            <a:avLst/>
            <a:gdLst/>
            <a:ahLst/>
            <a:cxnLst/>
            <a:rect l="l" t="t" r="r" b="b"/>
            <a:pathLst>
              <a:path w="29170" h="86022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830624"/>
                </a:lnTo>
                <a:lnTo>
                  <a:pt x="25524" y="826756"/>
                </a:lnTo>
                <a:lnTo>
                  <a:pt x="21878" y="822438"/>
                </a:lnTo>
                <a:lnTo>
                  <a:pt x="18231" y="817568"/>
                </a:lnTo>
                <a:lnTo>
                  <a:pt x="14585" y="811992"/>
                </a:lnTo>
                <a:lnTo>
                  <a:pt x="10939" y="805453"/>
                </a:lnTo>
                <a:lnTo>
                  <a:pt x="7293" y="797449"/>
                </a:lnTo>
                <a:lnTo>
                  <a:pt x="3646" y="786699"/>
                </a:lnTo>
                <a:lnTo>
                  <a:pt x="0" y="75989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770"/>
            <a:ext cx="1387647" cy="265361"/>
          </a:xfrm>
          <a:prstGeom prst="roundRect">
            <a:avLst>
              <a:gd name="adj" fmla="val 269448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14610" tIns="43180" rIns="114300" bIns="43180" rtlCol="0" anchor="ctr"/>
          <a:lstStyle/>
          <a:p>
            <a:pPr algn="l" indent="0" marL="0">
              <a:buNone/>
            </a:pPr>
            <a:r>
              <a:rPr lang="en-US" sz="84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81025" y="368796"/>
            <a:ext cx="43160" cy="4316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57150" dist="50800" dir="16200000">
              <a:srgbClr val="38bdf8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95461"/>
            <a:ext cx="8641080" cy="394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spcBef>
                <a:spcPts val="340"/>
              </a:spcBef>
              <a:buNone/>
            </a:pPr>
            <a:r>
              <a:rPr lang="en-US" sz="270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SaaS — </a:t>
            </a:r>
            <a:pPr algn="l" indent="0" marL="0">
              <a:lnSpc>
                <a:spcPts val="3105"/>
              </a:lnSpc>
              <a:spcBef>
                <a:spcPts val="340"/>
              </a:spcBef>
              <a:buNone/>
            </a:pPr>
            <a:r>
              <a:rPr lang="en-US" sz="2700" spc="-30" kern="0" dirty="0">
                <a:gradFill rotWithShape="1">
                  <a:gsLst>
                    <a:gs pos="0">
                      <a:srgbClr val="38BDF8"/>
                    </a:gs>
                    <a:gs pos="100000">
                      <a:srgbClr val="7DD3FC"/>
                    </a:gs>
                  </a:gsLst>
                  <a:lin ang="27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as a Service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060698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96578"/>
            <a:ext cx="8229600" cy="607516"/>
          </a:xfrm>
          <a:prstGeom prst="roundRect">
            <a:avLst>
              <a:gd name="adj" fmla="val 16515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1206103"/>
            <a:ext cx="29170" cy="588466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7345" y="129242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511" y="1383590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5736" y="1292423"/>
            <a:ext cx="7527691" cy="43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application delivered as a service — engineers integrate via REST APIs, webhooks, SDKs, and OAuth flows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457200" y="1875086"/>
            <a:ext cx="8229600" cy="607516"/>
          </a:xfrm>
          <a:prstGeom prst="roundRect">
            <a:avLst>
              <a:gd name="adj" fmla="val 16515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6725" y="1884611"/>
            <a:ext cx="29170" cy="588466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7DD3FC"/>
              </a:gs>
              <a:gs pos="100000">
                <a:srgbClr val="38BDF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7345" y="1970931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511" y="206209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25736" y="1970931"/>
            <a:ext cx="7527691" cy="43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 the entire stack: infrastructure, platform, application logic, updates, availability, and security patching</a:t>
            </a:r>
            <a:endParaRPr lang="en-US" sz="1130" dirty="0"/>
          </a:p>
        </p:txBody>
      </p:sp>
      <p:sp>
        <p:nvSpPr>
          <p:cNvPr id="16" name="Text 12"/>
          <p:cNvSpPr/>
          <p:nvPr/>
        </p:nvSpPr>
        <p:spPr>
          <a:xfrm>
            <a:off x="457200" y="2553593"/>
            <a:ext cx="8229600" cy="506611"/>
          </a:xfrm>
          <a:prstGeom prst="roundRect">
            <a:avLst>
              <a:gd name="adj" fmla="val 19804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66725" y="2563118"/>
            <a:ext cx="29170" cy="487561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67345" y="2649438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511" y="2740604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5736" y="2649438"/>
            <a:ext cx="8118098" cy="20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points: SSO via SAML/OIDC, SCIM for user provisioning, audit log APIs, and data export endpoints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457200" y="3131195"/>
            <a:ext cx="8229600" cy="506611"/>
          </a:xfrm>
          <a:prstGeom prst="roundRect">
            <a:avLst>
              <a:gd name="adj" fmla="val 19804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66725" y="3140720"/>
            <a:ext cx="29170" cy="487561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7DD3FC"/>
              </a:gs>
              <a:gs pos="100000">
                <a:srgbClr val="0EA5E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67345" y="3227040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511" y="3318206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25736" y="3227040"/>
            <a:ext cx="8118098" cy="20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Subscription-based licensing: per-seat, per-API-call, or tiered usage models with SLA-backed uptime guarantees</a:t>
            </a:r>
            <a:endParaRPr lang="en-US" sz="1130" dirty="0"/>
          </a:p>
        </p:txBody>
      </p:sp>
      <p:sp>
        <p:nvSpPr>
          <p:cNvPr id="26" name="Text 20"/>
          <p:cNvSpPr/>
          <p:nvPr/>
        </p:nvSpPr>
        <p:spPr>
          <a:xfrm>
            <a:off x="457200" y="3708797"/>
            <a:ext cx="8229600" cy="607516"/>
          </a:xfrm>
          <a:prstGeom prst="roundRect">
            <a:avLst>
              <a:gd name="adj" fmla="val 16515"/>
            </a:avLst>
          </a:prstGeom>
          <a:solidFill>
            <a:srgbClr val="1E293B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66725" y="3718322"/>
            <a:ext cx="29170" cy="588466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67345" y="3804642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511" y="3895808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25736" y="3804642"/>
            <a:ext cx="7527691" cy="43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CI/CD platforms (GitHub Actions), monitoring (Datadog), communication (Slack APIs), identity (Okta, Auth0)</a:t>
            </a:r>
            <a:endParaRPr lang="en-US" sz="1130" dirty="0"/>
          </a:p>
        </p:txBody>
      </p:sp>
      <p:sp>
        <p:nvSpPr>
          <p:cNvPr id="31" name="Text 24"/>
          <p:cNvSpPr/>
          <p:nvPr/>
        </p:nvSpPr>
        <p:spPr>
          <a:xfrm>
            <a:off x="457200" y="4664273"/>
            <a:ext cx="8229600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8977" y="4785205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9663" y="4760119"/>
            <a:ext cx="466870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2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pPr algn="l" indent="0" marL="0">
              <a:lnSpc>
                <a:spcPts val="1440"/>
              </a:lnSpc>
              <a:buNone/>
            </a:pPr>
            <a:r>
              <a:rPr lang="en-US" sz="960" spc="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Microsoft 365 · Salesforce · GitHub · Datadog · Snowflake</a:t>
            </a:r>
            <a:endParaRPr lang="en-US" sz="960" dirty="0"/>
          </a:p>
        </p:txBody>
      </p:sp>
      <p:sp>
        <p:nvSpPr>
          <p:cNvPr id="34" name="Text 26"/>
          <p:cNvSpPr/>
          <p:nvPr/>
        </p:nvSpPr>
        <p:spPr>
          <a:xfrm>
            <a:off x="7429500" y="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0" y="3143250"/>
            <a:ext cx="2428280" cy="2000250"/>
          </a:xfrm>
          <a:prstGeom prst="ellipse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8056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2030"/>
              </a:spcAft>
              <a:buNone/>
            </a:pPr>
            <a:r>
              <a:rPr lang="en-US" sz="2030" b="1" spc="-2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Cloud-Native Architecture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57200" y="987326"/>
            <a:ext cx="4029075" cy="1731020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87326"/>
            <a:ext cx="28575" cy="1731020"/>
          </a:xfrm>
          <a:custGeom>
            <a:avLst/>
            <a:gdLst/>
            <a:ahLst/>
            <a:cxnLst/>
            <a:rect l="l" t="t" r="r" b="b"/>
            <a:pathLst>
              <a:path w="28575" h="1731020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716891"/>
                </a:lnTo>
                <a:lnTo>
                  <a:pt x="25003" y="1714041"/>
                </a:lnTo>
                <a:lnTo>
                  <a:pt x="21431" y="1710783"/>
                </a:lnTo>
                <a:lnTo>
                  <a:pt x="17859" y="1707031"/>
                </a:lnTo>
                <a:lnTo>
                  <a:pt x="14288" y="1702656"/>
                </a:lnTo>
                <a:lnTo>
                  <a:pt x="10716" y="1697441"/>
                </a:lnTo>
                <a:lnTo>
                  <a:pt x="7144" y="1690966"/>
                </a:lnTo>
                <a:lnTo>
                  <a:pt x="3572" y="1682155"/>
                </a:lnTo>
                <a:lnTo>
                  <a:pt x="0" y="16599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385" y="118794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902" y="125046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4476" y="1198662"/>
            <a:ext cx="90384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Containers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700385" y="1516707"/>
            <a:ext cx="3642705" cy="55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 runtime environments using Docker. Package app + dependencies into immutable images. Run consistently across dev, staging, and production.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57725" y="987326"/>
            <a:ext cx="4029075" cy="1731020"/>
          </a:xfrm>
          <a:prstGeom prst="roundRect">
            <a:avLst>
              <a:gd name="adj" fmla="val 4109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57725" y="987326"/>
            <a:ext cx="28575" cy="1731020"/>
          </a:xfrm>
          <a:custGeom>
            <a:avLst/>
            <a:gdLst/>
            <a:ahLst/>
            <a:cxnLst/>
            <a:rect l="l" t="t" r="r" b="b"/>
            <a:pathLst>
              <a:path w="28575" h="1731020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716891"/>
                </a:lnTo>
                <a:lnTo>
                  <a:pt x="25003" y="1714041"/>
                </a:lnTo>
                <a:lnTo>
                  <a:pt x="21431" y="1710783"/>
                </a:lnTo>
                <a:lnTo>
                  <a:pt x="17859" y="1707031"/>
                </a:lnTo>
                <a:lnTo>
                  <a:pt x="14288" y="1702656"/>
                </a:lnTo>
                <a:lnTo>
                  <a:pt x="10716" y="1697441"/>
                </a:lnTo>
                <a:lnTo>
                  <a:pt x="7144" y="1690966"/>
                </a:lnTo>
                <a:lnTo>
                  <a:pt x="3572" y="1682155"/>
                </a:lnTo>
                <a:lnTo>
                  <a:pt x="0" y="165990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00910" y="118794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3427" y="125046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45001" y="1198662"/>
            <a:ext cx="95214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Kubernetes</a:t>
            </a:r>
            <a:endParaRPr lang="en-US" sz="1240" dirty="0"/>
          </a:p>
        </p:txBody>
      </p:sp>
      <p:sp>
        <p:nvSpPr>
          <p:cNvPr id="14" name="Text 10"/>
          <p:cNvSpPr/>
          <p:nvPr/>
        </p:nvSpPr>
        <p:spPr>
          <a:xfrm>
            <a:off x="4900910" y="1516707"/>
            <a:ext cx="3642705" cy="55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at scale. Handles scheduling, auto-scaling, self-healing, rolling updates, and service discovery. Managed options: EKS, GKE, AKS.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2889796"/>
            <a:ext cx="4029075" cy="1731169"/>
          </a:xfrm>
          <a:prstGeom prst="roundRect">
            <a:avLst>
              <a:gd name="adj" fmla="val 410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7200" y="2889796"/>
            <a:ext cx="28575" cy="1731169"/>
          </a:xfrm>
          <a:custGeom>
            <a:avLst/>
            <a:gdLst/>
            <a:ahLst/>
            <a:cxnLst/>
            <a:rect l="l" t="t" r="r" b="b"/>
            <a:pathLst>
              <a:path w="28575" h="1731169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717040"/>
                </a:lnTo>
                <a:lnTo>
                  <a:pt x="25003" y="1714190"/>
                </a:lnTo>
                <a:lnTo>
                  <a:pt x="21431" y="1710932"/>
                </a:lnTo>
                <a:lnTo>
                  <a:pt x="17859" y="1707180"/>
                </a:lnTo>
                <a:lnTo>
                  <a:pt x="14288" y="1702805"/>
                </a:lnTo>
                <a:lnTo>
                  <a:pt x="10716" y="1697590"/>
                </a:lnTo>
                <a:lnTo>
                  <a:pt x="7144" y="1691115"/>
                </a:lnTo>
                <a:lnTo>
                  <a:pt x="3572" y="1682304"/>
                </a:lnTo>
                <a:lnTo>
                  <a:pt x="0" y="1660049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00385" y="309041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902" y="3152933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4476" y="3101132"/>
            <a:ext cx="115449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Microservices</a:t>
            </a:r>
            <a:endParaRPr lang="en-US" sz="1240" dirty="0"/>
          </a:p>
        </p:txBody>
      </p:sp>
      <p:sp>
        <p:nvSpPr>
          <p:cNvPr id="20" name="Text 15"/>
          <p:cNvSpPr/>
          <p:nvPr/>
        </p:nvSpPr>
        <p:spPr>
          <a:xfrm>
            <a:off x="700385" y="3419177"/>
            <a:ext cx="3642705" cy="55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monoliths into independently deployable services. Communicate via REST, gRPC, or async messaging (Kafka, RabbitMQ). Enables team autonomy and polyglot stacks.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57725" y="2889796"/>
            <a:ext cx="4029075" cy="1731169"/>
          </a:xfrm>
          <a:prstGeom prst="roundRect">
            <a:avLst>
              <a:gd name="adj" fmla="val 4108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657725" y="2889796"/>
            <a:ext cx="28575" cy="1731169"/>
          </a:xfrm>
          <a:custGeom>
            <a:avLst/>
            <a:gdLst/>
            <a:ahLst/>
            <a:cxnLst/>
            <a:rect l="l" t="t" r="r" b="b"/>
            <a:pathLst>
              <a:path w="28575" h="1731169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717040"/>
                </a:lnTo>
                <a:lnTo>
                  <a:pt x="25003" y="1714190"/>
                </a:lnTo>
                <a:lnTo>
                  <a:pt x="21431" y="1710932"/>
                </a:lnTo>
                <a:lnTo>
                  <a:pt x="17859" y="1707180"/>
                </a:lnTo>
                <a:lnTo>
                  <a:pt x="14288" y="1702805"/>
                </a:lnTo>
                <a:lnTo>
                  <a:pt x="10716" y="1697590"/>
                </a:lnTo>
                <a:lnTo>
                  <a:pt x="7144" y="1691115"/>
                </a:lnTo>
                <a:lnTo>
                  <a:pt x="3572" y="1682304"/>
                </a:lnTo>
                <a:lnTo>
                  <a:pt x="0" y="1660049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900910" y="309041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3427" y="3152933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45001" y="3101132"/>
            <a:ext cx="87569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Serverless</a:t>
            </a:r>
            <a:endParaRPr lang="en-US" sz="1240" dirty="0"/>
          </a:p>
        </p:txBody>
      </p:sp>
      <p:sp>
        <p:nvSpPr>
          <p:cNvPr id="26" name="Text 20"/>
          <p:cNvSpPr/>
          <p:nvPr/>
        </p:nvSpPr>
        <p:spPr>
          <a:xfrm>
            <a:off x="4900910" y="3419177"/>
            <a:ext cx="3642705" cy="55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zero-infrastructure compute. Functions triggered by HTTP, queues, or schedules. AWS Lambda, Azure Functions, Google Cloud Functions. Pay per invocation.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" y="4764435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spcBef>
                <a:spcPts val="1130"/>
              </a:spcBef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principles: containerized, dynamically orchestrated, and microservices-oriented (CNCF).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93650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Benefits of Cloud Computing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050875"/>
            <a:ext cx="2647504" cy="1817043"/>
          </a:xfrm>
          <a:prstGeom prst="roundRect">
            <a:avLst>
              <a:gd name="adj" fmla="val 475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60" y="122232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607" y="1324273"/>
            <a:ext cx="139005" cy="13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4660" y="1622375"/>
            <a:ext cx="2565842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Efficiency</a:t>
            </a:r>
            <a:endParaRPr lang="en-US" sz="1290" dirty="0"/>
          </a:p>
        </p:txBody>
      </p:sp>
      <p:sp>
        <p:nvSpPr>
          <p:cNvPr id="8" name="Text 5"/>
          <p:cNvSpPr/>
          <p:nvPr/>
        </p:nvSpPr>
        <p:spPr>
          <a:xfrm>
            <a:off x="614660" y="1892498"/>
            <a:ext cx="2379235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datacenter CapEx. Reserved instances, spot/preemptible VMs, and right-sizing tools optimize cloud spend.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3248174" y="1050875"/>
            <a:ext cx="2647504" cy="1817043"/>
          </a:xfrm>
          <a:prstGeom prst="roundRect">
            <a:avLst>
              <a:gd name="adj" fmla="val 475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05634" y="122232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7581" y="1324273"/>
            <a:ext cx="139005" cy="139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5634" y="1622375"/>
            <a:ext cx="2565842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Scalability</a:t>
            </a:r>
            <a:endParaRPr lang="en-US" sz="1290" dirty="0"/>
          </a:p>
        </p:txBody>
      </p:sp>
      <p:sp>
        <p:nvSpPr>
          <p:cNvPr id="13" name="Text 9"/>
          <p:cNvSpPr/>
          <p:nvPr/>
        </p:nvSpPr>
        <p:spPr>
          <a:xfrm>
            <a:off x="3405634" y="1892498"/>
            <a:ext cx="2379235" cy="74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auto-scaling, serverless compute (Lambda, Cloud Functions), and managed Kubernetes (EKS, GKE, AKS) handle elastic workloads.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6039148" y="1050875"/>
            <a:ext cx="2647652" cy="1817043"/>
          </a:xfrm>
          <a:prstGeom prst="roundRect">
            <a:avLst>
              <a:gd name="adj" fmla="val 475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196608" y="1222325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555" y="1324273"/>
            <a:ext cx="139005" cy="139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6608" y="1622375"/>
            <a:ext cx="2566005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Agility &amp; Speed</a:t>
            </a:r>
            <a:endParaRPr lang="en-US" sz="1290" dirty="0"/>
          </a:p>
        </p:txBody>
      </p:sp>
      <p:sp>
        <p:nvSpPr>
          <p:cNvPr id="18" name="Text 13"/>
          <p:cNvSpPr/>
          <p:nvPr/>
        </p:nvSpPr>
        <p:spPr>
          <a:xfrm>
            <a:off x="6196608" y="1892498"/>
            <a:ext cx="2379387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full environments in minutes via IaC. CI/CD pipelines enable continuous delivery with rollback capabilities.</a:t>
            </a:r>
            <a:endParaRPr lang="en-US" sz="960" dirty="0"/>
          </a:p>
        </p:txBody>
      </p:sp>
      <p:sp>
        <p:nvSpPr>
          <p:cNvPr id="19" name="Text 14"/>
          <p:cNvSpPr/>
          <p:nvPr/>
        </p:nvSpPr>
        <p:spPr>
          <a:xfrm>
            <a:off x="457200" y="3011388"/>
            <a:ext cx="2647504" cy="1817191"/>
          </a:xfrm>
          <a:prstGeom prst="roundRect">
            <a:avLst>
              <a:gd name="adj" fmla="val 475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14660" y="3182838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607" y="3284786"/>
            <a:ext cx="139005" cy="139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4660" y="3582888"/>
            <a:ext cx="2565842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Reliability</a:t>
            </a:r>
            <a:endParaRPr lang="en-US" sz="1290" dirty="0"/>
          </a:p>
        </p:txBody>
      </p:sp>
      <p:sp>
        <p:nvSpPr>
          <p:cNvPr id="23" name="Text 17"/>
          <p:cNvSpPr/>
          <p:nvPr/>
        </p:nvSpPr>
        <p:spPr>
          <a:xfrm>
            <a:off x="614660" y="3853011"/>
            <a:ext cx="2379235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and multi-region architectures. Built-in load balancing, health checks, and automated failover.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3248174" y="3011388"/>
            <a:ext cx="2647504" cy="1817191"/>
          </a:xfrm>
          <a:prstGeom prst="roundRect">
            <a:avLst>
              <a:gd name="adj" fmla="val 475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405634" y="3182838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7581" y="3284786"/>
            <a:ext cx="139005" cy="139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5634" y="3582888"/>
            <a:ext cx="2565842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</a:t>
            </a:r>
            <a:endParaRPr lang="en-US" sz="1290" dirty="0"/>
          </a:p>
        </p:txBody>
      </p:sp>
      <p:sp>
        <p:nvSpPr>
          <p:cNvPr id="28" name="Text 21"/>
          <p:cNvSpPr/>
          <p:nvPr/>
        </p:nvSpPr>
        <p:spPr>
          <a:xfrm>
            <a:off x="3405634" y="3853011"/>
            <a:ext cx="2379235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CDNs (CloudFront, Akamai), edge computing, and latest-gen GPUs/TPUs for ML inference and training.</a:t>
            </a:r>
            <a:endParaRPr lang="en-US" sz="960" dirty="0"/>
          </a:p>
        </p:txBody>
      </p:sp>
      <p:sp>
        <p:nvSpPr>
          <p:cNvPr id="29" name="Text 22"/>
          <p:cNvSpPr/>
          <p:nvPr/>
        </p:nvSpPr>
        <p:spPr>
          <a:xfrm>
            <a:off x="6039148" y="3011388"/>
            <a:ext cx="2647652" cy="1817191"/>
          </a:xfrm>
          <a:prstGeom prst="roundRect">
            <a:avLst>
              <a:gd name="adj" fmla="val 475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196608" y="3182838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8555" y="3284786"/>
            <a:ext cx="139005" cy="1390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96608" y="3582888"/>
            <a:ext cx="2566005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7"/>
              </a:lnSpc>
              <a:buNone/>
            </a:pPr>
            <a:r>
              <a:rPr lang="en-US" sz="129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1290" dirty="0"/>
          </a:p>
        </p:txBody>
      </p:sp>
      <p:sp>
        <p:nvSpPr>
          <p:cNvPr id="33" name="Text 25"/>
          <p:cNvSpPr/>
          <p:nvPr/>
        </p:nvSpPr>
        <p:spPr>
          <a:xfrm>
            <a:off x="6196608" y="3853011"/>
            <a:ext cx="2379387" cy="74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policies, VPC isolation, encryption at rest (AES-256) and in transit (TLS 1.3), compliance certifications (SOC 2, ISO 27001).</a:t>
            </a:r>
            <a:endParaRPr lang="en-US" sz="960" dirty="0"/>
          </a:p>
        </p:txBody>
      </p:sp>
      <p:sp>
        <p:nvSpPr>
          <p:cNvPr id="34" name="Text 26"/>
          <p:cNvSpPr/>
          <p:nvPr/>
        </p:nvSpPr>
        <p:spPr>
          <a:xfrm>
            <a:off x="457200" y="1050875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248174" y="1050875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39148" y="1050875"/>
            <a:ext cx="2647655" cy="21580"/>
          </a:xfrm>
          <a:custGeom>
            <a:avLst/>
            <a:gdLst/>
            <a:ahLst/>
            <a:cxnLst/>
            <a:rect l="l" t="t" r="r" b="b"/>
            <a:pathLst>
              <a:path w="2647655" h="21580">
                <a:moveTo>
                  <a:pt x="86360" y="0"/>
                </a:moveTo>
                <a:lnTo>
                  <a:pt x="2561295" y="0"/>
                </a:lnTo>
                <a:lnTo>
                  <a:pt x="2582710" y="2698"/>
                </a:lnTo>
                <a:lnTo>
                  <a:pt x="2591340" y="5395"/>
                </a:lnTo>
                <a:lnTo>
                  <a:pt x="2597795" y="8093"/>
                </a:lnTo>
                <a:lnTo>
                  <a:pt x="2603095" y="10790"/>
                </a:lnTo>
                <a:lnTo>
                  <a:pt x="2607637" y="13488"/>
                </a:lnTo>
                <a:lnTo>
                  <a:pt x="2611629" y="16185"/>
                </a:lnTo>
                <a:lnTo>
                  <a:pt x="2615191" y="18883"/>
                </a:lnTo>
                <a:lnTo>
                  <a:pt x="26184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57200" y="3011388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48174" y="3011388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39148" y="3011388"/>
            <a:ext cx="2647655" cy="21580"/>
          </a:xfrm>
          <a:custGeom>
            <a:avLst/>
            <a:gdLst/>
            <a:ahLst/>
            <a:cxnLst/>
            <a:rect l="l" t="t" r="r" b="b"/>
            <a:pathLst>
              <a:path w="2647655" h="21580">
                <a:moveTo>
                  <a:pt x="86360" y="0"/>
                </a:moveTo>
                <a:lnTo>
                  <a:pt x="2561295" y="0"/>
                </a:lnTo>
                <a:lnTo>
                  <a:pt x="2582710" y="2698"/>
                </a:lnTo>
                <a:lnTo>
                  <a:pt x="2591340" y="5395"/>
                </a:lnTo>
                <a:lnTo>
                  <a:pt x="2597795" y="8093"/>
                </a:lnTo>
                <a:lnTo>
                  <a:pt x="2603095" y="10790"/>
                </a:lnTo>
                <a:lnTo>
                  <a:pt x="2607637" y="13488"/>
                </a:lnTo>
                <a:lnTo>
                  <a:pt x="2611629" y="16185"/>
                </a:lnTo>
                <a:lnTo>
                  <a:pt x="2615191" y="18883"/>
                </a:lnTo>
                <a:lnTo>
                  <a:pt x="26184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73" y="271760"/>
            <a:ext cx="9020654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45"/>
              </a:lnSpc>
              <a:spcAft>
                <a:spcPts val="340"/>
              </a:spcAft>
              <a:buNone/>
            </a:pPr>
            <a:r>
              <a:rPr lang="en-US" sz="2030" b="1" spc="-2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DevOps &amp; CI/CD in the Cloud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143375" y="701576"/>
            <a:ext cx="85725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5961" y="2804740"/>
            <a:ext cx="7572077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35000"/>
                </a:srgbClr>
              </a:gs>
              <a:gs pos="33333">
                <a:srgbClr val="A78BFA">
                  <a:alpha val="35000"/>
                </a:srgbClr>
              </a:gs>
              <a:gs pos="66667">
                <a:srgbClr val="34D399">
                  <a:alpha val="35000"/>
                </a:srgbClr>
              </a:gs>
              <a:gs pos="100000">
                <a:srgbClr val="F59E0B">
                  <a:alpha val="3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64785" y="4821585"/>
            <a:ext cx="927357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spcBef>
                <a:spcPts val="1010"/>
              </a:spcBef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accelerates feedback loops — ship faster, fail smaller, recover quicker.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469404" y="1779984"/>
            <a:ext cx="1857970" cy="2071241"/>
          </a:xfrm>
          <a:prstGeom prst="roundRect">
            <a:avLst>
              <a:gd name="adj" fmla="val 307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1450" dist="29210" dir="540000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404" y="1779984"/>
            <a:ext cx="28575" cy="2071241"/>
          </a:xfrm>
          <a:custGeom>
            <a:avLst/>
            <a:gdLst/>
            <a:ahLst/>
            <a:cxnLst/>
            <a:rect l="l" t="t" r="r" b="b"/>
            <a:pathLst>
              <a:path w="28575" h="2071241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2063584"/>
                </a:lnTo>
                <a:lnTo>
                  <a:pt x="25003" y="2061342"/>
                </a:lnTo>
                <a:lnTo>
                  <a:pt x="21431" y="2058704"/>
                </a:lnTo>
                <a:lnTo>
                  <a:pt x="17859" y="2055592"/>
                </a:lnTo>
                <a:lnTo>
                  <a:pt x="14288" y="2051892"/>
                </a:lnTo>
                <a:lnTo>
                  <a:pt x="10716" y="2047407"/>
                </a:lnTo>
                <a:lnTo>
                  <a:pt x="7144" y="2041759"/>
                </a:lnTo>
                <a:lnTo>
                  <a:pt x="3572" y="2033978"/>
                </a:lnTo>
                <a:lnTo>
                  <a:pt x="0" y="201409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6120" y="1923455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26120" y="2210395"/>
            <a:ext cx="173042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&amp; Plan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626120" y="2496592"/>
            <a:ext cx="1604576" cy="868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version control (GitHub, GitLab). Feature branching, pull requests, code reviews. GitOps: infrastructure defined in Git repos.</a:t>
            </a:r>
            <a:endParaRPr lang="en-US" sz="8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9965" y="2749236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85145" y="1779984"/>
            <a:ext cx="1857970" cy="2071241"/>
          </a:xfrm>
          <a:prstGeom prst="roundRect">
            <a:avLst>
              <a:gd name="adj" fmla="val 307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1450" dist="29210" dir="540000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585145" y="1779984"/>
            <a:ext cx="28575" cy="2071241"/>
          </a:xfrm>
          <a:custGeom>
            <a:avLst/>
            <a:gdLst/>
            <a:ahLst/>
            <a:cxnLst/>
            <a:rect l="l" t="t" r="r" b="b"/>
            <a:pathLst>
              <a:path w="28575" h="2071241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2063584"/>
                </a:lnTo>
                <a:lnTo>
                  <a:pt x="25003" y="2061342"/>
                </a:lnTo>
                <a:lnTo>
                  <a:pt x="21431" y="2058704"/>
                </a:lnTo>
                <a:lnTo>
                  <a:pt x="17859" y="2055592"/>
                </a:lnTo>
                <a:lnTo>
                  <a:pt x="14288" y="2051892"/>
                </a:lnTo>
                <a:lnTo>
                  <a:pt x="10716" y="2047407"/>
                </a:lnTo>
                <a:lnTo>
                  <a:pt x="7144" y="2041759"/>
                </a:lnTo>
                <a:lnTo>
                  <a:pt x="3572" y="2033978"/>
                </a:lnTo>
                <a:lnTo>
                  <a:pt x="0" y="2014091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41861" y="1923455"/>
            <a:ext cx="200620" cy="220682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2741861" y="2210395"/>
            <a:ext cx="173042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&amp; Test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2741861" y="2496592"/>
            <a:ext cx="1604576" cy="104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 pipelines (GitHub Actions, Jenkins, Azure DevOps). Unit tests, integration tests, SAST/DAST security scans. Container image builds and registry push.</a:t>
            </a:r>
            <a:endParaRPr lang="en-US" sz="84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706" y="2749236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00885" y="1779984"/>
            <a:ext cx="1857970" cy="2071241"/>
          </a:xfrm>
          <a:prstGeom prst="roundRect">
            <a:avLst>
              <a:gd name="adj" fmla="val 307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1450" dist="29210" dir="540000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00885" y="1779984"/>
            <a:ext cx="28575" cy="2071241"/>
          </a:xfrm>
          <a:custGeom>
            <a:avLst/>
            <a:gdLst/>
            <a:ahLst/>
            <a:cxnLst/>
            <a:rect l="l" t="t" r="r" b="b"/>
            <a:pathLst>
              <a:path w="28575" h="2071241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2063584"/>
                </a:lnTo>
                <a:lnTo>
                  <a:pt x="25003" y="2061342"/>
                </a:lnTo>
                <a:lnTo>
                  <a:pt x="21431" y="2058704"/>
                </a:lnTo>
                <a:lnTo>
                  <a:pt x="17859" y="2055592"/>
                </a:lnTo>
                <a:lnTo>
                  <a:pt x="14288" y="2051892"/>
                </a:lnTo>
                <a:lnTo>
                  <a:pt x="10716" y="2047407"/>
                </a:lnTo>
                <a:lnTo>
                  <a:pt x="7144" y="2041759"/>
                </a:lnTo>
                <a:lnTo>
                  <a:pt x="3572" y="2033978"/>
                </a:lnTo>
                <a:lnTo>
                  <a:pt x="0" y="2014091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57601" y="1923455"/>
            <a:ext cx="200620" cy="220682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4857601" y="2210395"/>
            <a:ext cx="173042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</a:t>
            </a:r>
            <a:endParaRPr lang="en-US" sz="1130" dirty="0"/>
          </a:p>
        </p:txBody>
      </p:sp>
      <p:sp>
        <p:nvSpPr>
          <p:cNvPr id="22" name="Text 18"/>
          <p:cNvSpPr/>
          <p:nvPr/>
        </p:nvSpPr>
        <p:spPr>
          <a:xfrm>
            <a:off x="4857601" y="2496592"/>
            <a:ext cx="1604576" cy="104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strategies: blue/green, canary, rolling updates. IaC-driven environment provisioning. Feature flags for progressive rollouts (LaunchDarkly, Unleash).</a:t>
            </a:r>
            <a:endParaRPr lang="en-US" sz="84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1447" y="2749236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6626" y="1779984"/>
            <a:ext cx="1857970" cy="2071241"/>
          </a:xfrm>
          <a:prstGeom prst="roundRect">
            <a:avLst>
              <a:gd name="adj" fmla="val 307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71450" dist="29210" dir="5400000">
              <a:srgbClr val="000000">
                <a:alpha val="3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816626" y="1779984"/>
            <a:ext cx="28575" cy="2071241"/>
          </a:xfrm>
          <a:custGeom>
            <a:avLst/>
            <a:gdLst/>
            <a:ahLst/>
            <a:cxnLst/>
            <a:rect l="l" t="t" r="r" b="b"/>
            <a:pathLst>
              <a:path w="28575" h="2071241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2063584"/>
                </a:lnTo>
                <a:lnTo>
                  <a:pt x="25003" y="2061342"/>
                </a:lnTo>
                <a:lnTo>
                  <a:pt x="21431" y="2058704"/>
                </a:lnTo>
                <a:lnTo>
                  <a:pt x="17859" y="2055592"/>
                </a:lnTo>
                <a:lnTo>
                  <a:pt x="14288" y="2051892"/>
                </a:lnTo>
                <a:lnTo>
                  <a:pt x="10716" y="2047407"/>
                </a:lnTo>
                <a:lnTo>
                  <a:pt x="7144" y="2041759"/>
                </a:lnTo>
                <a:lnTo>
                  <a:pt x="3572" y="2033978"/>
                </a:lnTo>
                <a:lnTo>
                  <a:pt x="0" y="2014091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973342" y="1923455"/>
            <a:ext cx="200620" cy="220682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6973342" y="2210395"/>
            <a:ext cx="173042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 &amp; Operate</a:t>
            </a:r>
            <a:endParaRPr lang="en-US" sz="1130" dirty="0"/>
          </a:p>
        </p:txBody>
      </p:sp>
      <p:sp>
        <p:nvSpPr>
          <p:cNvPr id="28" name="Text 23"/>
          <p:cNvSpPr/>
          <p:nvPr/>
        </p:nvSpPr>
        <p:spPr>
          <a:xfrm>
            <a:off x="6973342" y="2496592"/>
            <a:ext cx="1604576" cy="104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metrics, logs, traces (Prometheus, Grafana, Datadog). Alerting, incident response, and runbooks. Chaos engineering for resilience testing (Gremlin, Chaos Monkey).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9E0B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70000" r="20000" b="3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4D399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30000" r="80000" b="7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857250"/>
            <a:ext cx="7590" cy="39001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94A3B8">
                  <a:alpha val="18000"/>
                </a:srgbClr>
              </a:gs>
              <a:gs pos="85000">
                <a:srgbClr val="94A3B8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5706" y="1398770"/>
            <a:ext cx="132588" cy="1325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706" y="2256020"/>
            <a:ext cx="132588" cy="1325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alphaModFix amt="4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706" y="3113270"/>
            <a:ext cx="132588" cy="13258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alphaModFix am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5706" y="3984510"/>
            <a:ext cx="132588" cy="132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257770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spcAft>
                <a:spcPts val="340"/>
              </a:spcAft>
              <a:buNone/>
            </a:pPr>
            <a:r>
              <a:rPr lang="en-US" sz="225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 &amp; Considerations</a:t>
            </a:r>
            <a:endParaRPr lang="en-US" sz="2250" dirty="0"/>
          </a:p>
        </p:txBody>
      </p:sp>
      <p:sp>
        <p:nvSpPr>
          <p:cNvPr id="10" name="Text 4"/>
          <p:cNvSpPr/>
          <p:nvPr/>
        </p:nvSpPr>
        <p:spPr>
          <a:xfrm>
            <a:off x="457200" y="729555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57200" y="908893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5132" y="956825"/>
            <a:ext cx="132588" cy="132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56791" y="894606"/>
            <a:ext cx="14110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8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57200" y="1252091"/>
            <a:ext cx="3914775" cy="910382"/>
          </a:xfrm>
          <a:prstGeom prst="roundRect">
            <a:avLst>
              <a:gd name="adj" fmla="val 781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457200" y="1252091"/>
            <a:ext cx="19050" cy="910382"/>
          </a:xfrm>
          <a:custGeom>
            <a:avLst/>
            <a:gdLst/>
            <a:ahLst/>
            <a:cxnLst/>
            <a:rect l="l" t="t" r="r" b="b"/>
            <a:pathLst>
              <a:path w="19050" h="91038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887705"/>
                </a:lnTo>
                <a:lnTo>
                  <a:pt x="16669" y="885012"/>
                </a:lnTo>
                <a:lnTo>
                  <a:pt x="14288" y="882018"/>
                </a:lnTo>
                <a:lnTo>
                  <a:pt x="11906" y="878654"/>
                </a:lnTo>
                <a:lnTo>
                  <a:pt x="9525" y="874816"/>
                </a:lnTo>
                <a:lnTo>
                  <a:pt x="7144" y="870328"/>
                </a:lnTo>
                <a:lnTo>
                  <a:pt x="4763" y="864849"/>
                </a:lnTo>
                <a:lnTo>
                  <a:pt x="2381" y="857511"/>
                </a:lnTo>
                <a:lnTo>
                  <a:pt x="0" y="83926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04391" y="1338411"/>
            <a:ext cx="285750" cy="28575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898" y="1414918"/>
            <a:ext cx="132588" cy="132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4441" y="1338411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Shared Responsibility</a:t>
            </a:r>
            <a:endParaRPr lang="en-US" sz="1130" dirty="0"/>
          </a:p>
        </p:txBody>
      </p:sp>
      <p:sp>
        <p:nvSpPr>
          <p:cNvPr id="19" name="Text 11"/>
          <p:cNvSpPr/>
          <p:nvPr/>
        </p:nvSpPr>
        <p:spPr>
          <a:xfrm>
            <a:off x="1004441" y="1582787"/>
            <a:ext cx="3304181" cy="51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secures the infrastructure; you own IAM policies, network ACLs, secrets management, and application-level security</a:t>
            </a:r>
            <a:endParaRPr lang="en-US" sz="960" dirty="0"/>
          </a:p>
        </p:txBody>
      </p:sp>
      <p:sp>
        <p:nvSpPr>
          <p:cNvPr id="20" name="Text 12"/>
          <p:cNvSpPr/>
          <p:nvPr/>
        </p:nvSpPr>
        <p:spPr>
          <a:xfrm>
            <a:off x="457200" y="2233464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457200" y="2233464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604391" y="2319784"/>
            <a:ext cx="285750" cy="28575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0898" y="2396291"/>
            <a:ext cx="132588" cy="132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4441" y="2319784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Lock-In</a:t>
            </a:r>
            <a:endParaRPr lang="en-US" sz="1130" dirty="0"/>
          </a:p>
        </p:txBody>
      </p:sp>
      <p:sp>
        <p:nvSpPr>
          <p:cNvPr id="25" name="Text 16"/>
          <p:cNvSpPr/>
          <p:nvPr/>
        </p:nvSpPr>
        <p:spPr>
          <a:xfrm>
            <a:off x="1004441" y="2564160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APIs, managed services, and data formats create migration friction — refactoring may be required</a:t>
            </a:r>
            <a:endParaRPr lang="en-US" sz="960" dirty="0"/>
          </a:p>
        </p:txBody>
      </p:sp>
      <p:sp>
        <p:nvSpPr>
          <p:cNvPr id="26" name="Text 17"/>
          <p:cNvSpPr/>
          <p:nvPr/>
        </p:nvSpPr>
        <p:spPr>
          <a:xfrm>
            <a:off x="457200" y="3050381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457200" y="3050381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604391" y="3136702"/>
            <a:ext cx="285750" cy="28575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0898" y="3213208"/>
            <a:ext cx="132588" cy="1325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04441" y="3136702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Dependency &amp; Latency</a:t>
            </a:r>
            <a:endParaRPr lang="en-US" sz="1130" dirty="0"/>
          </a:p>
        </p:txBody>
      </p:sp>
      <p:sp>
        <p:nvSpPr>
          <p:cNvPr id="31" name="Text 21"/>
          <p:cNvSpPr/>
          <p:nvPr/>
        </p:nvSpPr>
        <p:spPr>
          <a:xfrm>
            <a:off x="1004441" y="3381077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architectures add latency hops; egress costs accumulate with high-bandwidth workloads</a:t>
            </a:r>
            <a:endParaRPr lang="en-US" sz="960" dirty="0"/>
          </a:p>
        </p:txBody>
      </p:sp>
      <p:sp>
        <p:nvSpPr>
          <p:cNvPr id="32" name="Text 22"/>
          <p:cNvSpPr/>
          <p:nvPr/>
        </p:nvSpPr>
        <p:spPr>
          <a:xfrm>
            <a:off x="457200" y="3867299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457200" y="3867299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604391" y="3953619"/>
            <a:ext cx="285750" cy="28575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0898" y="4030126"/>
            <a:ext cx="132588" cy="1325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04441" y="3953619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Compliance &amp; Data Residency</a:t>
            </a:r>
            <a:endParaRPr lang="en-US" sz="1130" dirty="0"/>
          </a:p>
        </p:txBody>
      </p:sp>
      <p:sp>
        <p:nvSpPr>
          <p:cNvPr id="37" name="Text 26"/>
          <p:cNvSpPr/>
          <p:nvPr/>
        </p:nvSpPr>
        <p:spPr>
          <a:xfrm>
            <a:off x="1004441" y="4197995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HIPAA, and SOC 2 require specific region selection, encryption, and audit logging configurations</a:t>
            </a:r>
            <a:endParaRPr lang="en-US" sz="960" dirty="0"/>
          </a:p>
        </p:txBody>
      </p:sp>
      <p:sp>
        <p:nvSpPr>
          <p:cNvPr id="38" name="Text 27"/>
          <p:cNvSpPr/>
          <p:nvPr/>
        </p:nvSpPr>
        <p:spPr>
          <a:xfrm>
            <a:off x="4772025" y="908893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19957" y="956825"/>
            <a:ext cx="132588" cy="13258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71616" y="894606"/>
            <a:ext cx="13452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80" kern="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MITIGATIONS</a:t>
            </a:r>
            <a:endParaRPr lang="en-US" sz="1350" dirty="0"/>
          </a:p>
        </p:txBody>
      </p:sp>
      <p:sp>
        <p:nvSpPr>
          <p:cNvPr id="41" name="Text 29"/>
          <p:cNvSpPr/>
          <p:nvPr/>
        </p:nvSpPr>
        <p:spPr>
          <a:xfrm>
            <a:off x="4772025" y="1252091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0"/>
          <p:cNvSpPr/>
          <p:nvPr/>
        </p:nvSpPr>
        <p:spPr>
          <a:xfrm>
            <a:off x="4772025" y="1252091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1"/>
          <p:cNvSpPr/>
          <p:nvPr/>
        </p:nvSpPr>
        <p:spPr>
          <a:xfrm>
            <a:off x="4919216" y="1338411"/>
            <a:ext cx="285750" cy="28575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95723" y="1414918"/>
            <a:ext cx="132588" cy="13258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319266" y="1338411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Zero-Trust &amp; Policy-as-Code</a:t>
            </a:r>
            <a:endParaRPr lang="en-US" sz="1130" dirty="0"/>
          </a:p>
        </p:txBody>
      </p:sp>
      <p:sp>
        <p:nvSpPr>
          <p:cNvPr id="46" name="Text 33"/>
          <p:cNvSpPr/>
          <p:nvPr/>
        </p:nvSpPr>
        <p:spPr>
          <a:xfrm>
            <a:off x="5319266" y="1582787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architecture, policy-as-code (OPA, Sentinel), secrets vaults (HashiCorp Vault, AWS Secrets Manager)</a:t>
            </a:r>
            <a:endParaRPr lang="en-US" sz="960" dirty="0"/>
          </a:p>
        </p:txBody>
      </p:sp>
      <p:sp>
        <p:nvSpPr>
          <p:cNvPr id="47" name="Text 34"/>
          <p:cNvSpPr/>
          <p:nvPr/>
        </p:nvSpPr>
        <p:spPr>
          <a:xfrm>
            <a:off x="4772025" y="2069009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4772025" y="2069009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4919216" y="2155329"/>
            <a:ext cx="285750" cy="28575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95723" y="2231835"/>
            <a:ext cx="132588" cy="13258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319266" y="2155329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Multi-Cloud &amp; Open Standards</a:t>
            </a:r>
            <a:endParaRPr lang="en-US" sz="1130" dirty="0"/>
          </a:p>
        </p:txBody>
      </p:sp>
      <p:sp>
        <p:nvSpPr>
          <p:cNvPr id="52" name="Text 38"/>
          <p:cNvSpPr/>
          <p:nvPr/>
        </p:nvSpPr>
        <p:spPr>
          <a:xfrm>
            <a:off x="5319266" y="2399705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abstractions (Terraform), containers (Docker/K8s), and open standards (OpenAPI, CloudEvents)</a:t>
            </a:r>
            <a:endParaRPr lang="en-US" sz="960" dirty="0"/>
          </a:p>
        </p:txBody>
      </p:sp>
      <p:sp>
        <p:nvSpPr>
          <p:cNvPr id="53" name="Text 39"/>
          <p:cNvSpPr/>
          <p:nvPr/>
        </p:nvSpPr>
        <p:spPr>
          <a:xfrm>
            <a:off x="4772025" y="2885926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0"/>
          <p:cNvSpPr/>
          <p:nvPr/>
        </p:nvSpPr>
        <p:spPr>
          <a:xfrm>
            <a:off x="4772025" y="2885926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1"/>
          <p:cNvSpPr/>
          <p:nvPr/>
        </p:nvSpPr>
        <p:spPr>
          <a:xfrm>
            <a:off x="4919216" y="2972246"/>
            <a:ext cx="285750" cy="28575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95723" y="3048753"/>
            <a:ext cx="132588" cy="132588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319266" y="2972246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&amp; Network Optimization</a:t>
            </a:r>
            <a:endParaRPr lang="en-US" sz="1130" dirty="0"/>
          </a:p>
        </p:txBody>
      </p:sp>
      <p:sp>
        <p:nvSpPr>
          <p:cNvPr id="58" name="Text 43"/>
          <p:cNvSpPr/>
          <p:nvPr/>
        </p:nvSpPr>
        <p:spPr>
          <a:xfrm>
            <a:off x="5319266" y="3216622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computing, CDNs, Direct Connect/ExpressRoute, and architecture-level caching strategies</a:t>
            </a:r>
            <a:endParaRPr lang="en-US" sz="960" dirty="0"/>
          </a:p>
        </p:txBody>
      </p:sp>
      <p:sp>
        <p:nvSpPr>
          <p:cNvPr id="59" name="Text 44"/>
          <p:cNvSpPr/>
          <p:nvPr/>
        </p:nvSpPr>
        <p:spPr>
          <a:xfrm>
            <a:off x="4772025" y="3702844"/>
            <a:ext cx="3914775" cy="745927"/>
          </a:xfrm>
          <a:prstGeom prst="roundRect">
            <a:avLst>
              <a:gd name="adj" fmla="val 9534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5"/>
          <p:cNvSpPr/>
          <p:nvPr/>
        </p:nvSpPr>
        <p:spPr>
          <a:xfrm>
            <a:off x="4772025" y="3702844"/>
            <a:ext cx="19050" cy="745927"/>
          </a:xfrm>
          <a:custGeom>
            <a:avLst/>
            <a:gdLst/>
            <a:ahLst/>
            <a:cxnLst/>
            <a:rect l="l" t="t" r="r" b="b"/>
            <a:pathLst>
              <a:path w="19050" h="745927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23250"/>
                </a:lnTo>
                <a:lnTo>
                  <a:pt x="16669" y="720557"/>
                </a:lnTo>
                <a:lnTo>
                  <a:pt x="14288" y="717563"/>
                </a:lnTo>
                <a:lnTo>
                  <a:pt x="11906" y="714199"/>
                </a:lnTo>
                <a:lnTo>
                  <a:pt x="9525" y="710361"/>
                </a:lnTo>
                <a:lnTo>
                  <a:pt x="7144" y="705872"/>
                </a:lnTo>
                <a:lnTo>
                  <a:pt x="4763" y="700394"/>
                </a:lnTo>
                <a:lnTo>
                  <a:pt x="2381" y="693056"/>
                </a:lnTo>
                <a:lnTo>
                  <a:pt x="0" y="674807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6"/>
          <p:cNvSpPr/>
          <p:nvPr/>
        </p:nvSpPr>
        <p:spPr>
          <a:xfrm>
            <a:off x="4919216" y="3789164"/>
            <a:ext cx="285750" cy="28575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95723" y="3865671"/>
            <a:ext cx="132588" cy="13258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319266" y="3789164"/>
            <a:ext cx="3563332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230"/>
              </a:spcAft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Compliance &amp; Audit Trails</a:t>
            </a:r>
            <a:endParaRPr lang="en-US" sz="1130" dirty="0"/>
          </a:p>
        </p:txBody>
      </p:sp>
      <p:sp>
        <p:nvSpPr>
          <p:cNvPr id="64" name="Text 48"/>
          <p:cNvSpPr/>
          <p:nvPr/>
        </p:nvSpPr>
        <p:spPr>
          <a:xfrm>
            <a:off x="5319266" y="4033540"/>
            <a:ext cx="330418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compliance certifications, data residency controls, and infrastructure audit trails (CloudTrail, Azure Monitor)</a:t>
            </a:r>
            <a:endParaRPr lang="en-US" sz="96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8977" y="4752314"/>
            <a:ext cx="132588" cy="132588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610493" y="4722465"/>
            <a:ext cx="6108874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challenge has a proven mitigation — proactive planning turns risks into managed trade-offs.</a:t>
            </a:r>
            <a:endParaRPr lang="en-US" sz="10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6283" y="255389"/>
            <a:ext cx="647143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spc="-3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Cloud Providers — Market Leaders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12639"/>
            <a:ext cx="2590800" cy="3396555"/>
          </a:xfrm>
          <a:prstGeom prst="roundRect">
            <a:avLst>
              <a:gd name="adj" fmla="val 4412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52575" y="1379934"/>
            <a:ext cx="400050" cy="400050"/>
          </a:xfrm>
          <a:prstGeom prst="roundRect">
            <a:avLst>
              <a:gd name="adj" fmla="val 2158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7293" y="1504652"/>
            <a:ext cx="150465" cy="1504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056" y="1923455"/>
            <a:ext cx="12010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230"/>
              </a:spcAft>
              <a:buNone/>
            </a:pPr>
            <a:r>
              <a:rPr lang="en-US" sz="450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31%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674180" y="2610445"/>
            <a:ext cx="2156841" cy="58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90"/>
              </a:lnSpc>
              <a:spcBef>
                <a:spcPts val="680"/>
              </a:spcBef>
              <a:spcAft>
                <a:spcPts val="790"/>
              </a:spcAft>
              <a:buNone/>
            </a:pPr>
            <a:r>
              <a:rPr lang="en-US" sz="146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674180" y="3267075"/>
            <a:ext cx="2156841" cy="10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service catalog: 200+ services. Key for engineers: Lambda, EKS, DynamoDB, CloudFormation, CodePipeline. Largest community and third-party ecosystem.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3276600" y="1112639"/>
            <a:ext cx="2590800" cy="3396555"/>
          </a:xfrm>
          <a:prstGeom prst="roundRect">
            <a:avLst>
              <a:gd name="adj" fmla="val 4412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371975" y="1379934"/>
            <a:ext cx="400050" cy="400050"/>
          </a:xfrm>
          <a:prstGeom prst="roundRect">
            <a:avLst>
              <a:gd name="adj" fmla="val 2158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6693" y="1504652"/>
            <a:ext cx="150465" cy="1504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1456" y="1923455"/>
            <a:ext cx="12010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230"/>
              </a:spcAft>
              <a:buNone/>
            </a:pPr>
            <a:r>
              <a:rPr lang="en-US" sz="450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25%</a:t>
            </a:r>
            <a:endParaRPr lang="en-US" sz="4500" dirty="0"/>
          </a:p>
        </p:txBody>
      </p:sp>
      <p:sp>
        <p:nvSpPr>
          <p:cNvPr id="13" name="Text 9"/>
          <p:cNvSpPr/>
          <p:nvPr/>
        </p:nvSpPr>
        <p:spPr>
          <a:xfrm>
            <a:off x="3826569" y="2610445"/>
            <a:ext cx="1490862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spcBef>
                <a:spcPts val="680"/>
              </a:spcBef>
              <a:spcAft>
                <a:spcPts val="790"/>
              </a:spcAft>
              <a:buNone/>
            </a:pPr>
            <a:r>
              <a:rPr lang="en-US" sz="146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460" dirty="0"/>
          </a:p>
        </p:txBody>
      </p:sp>
      <p:sp>
        <p:nvSpPr>
          <p:cNvPr id="14" name="Text 10"/>
          <p:cNvSpPr/>
          <p:nvPr/>
        </p:nvSpPr>
        <p:spPr>
          <a:xfrm>
            <a:off x="3493580" y="2988915"/>
            <a:ext cx="2156841" cy="10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enterprise integration: Active Directory, DevOps, GitHub Actions. Key for engineers: AKS, Azure Functions, Bicep/ARM templates, hybrid via Arc.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6096000" y="1112639"/>
            <a:ext cx="2590800" cy="3396555"/>
          </a:xfrm>
          <a:prstGeom prst="roundRect">
            <a:avLst>
              <a:gd name="adj" fmla="val 4412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191375" y="1379934"/>
            <a:ext cx="400050" cy="400050"/>
          </a:xfrm>
          <a:prstGeom prst="roundRect">
            <a:avLst>
              <a:gd name="adj" fmla="val 2158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6093" y="1504652"/>
            <a:ext cx="150465" cy="1504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7421" y="1923455"/>
            <a:ext cx="116795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230"/>
              </a:spcAft>
              <a:buNone/>
            </a:pPr>
            <a:r>
              <a:rPr lang="en-US" sz="450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11%</a:t>
            </a:r>
            <a:endParaRPr lang="en-US" sz="4500" dirty="0"/>
          </a:p>
        </p:txBody>
      </p:sp>
      <p:sp>
        <p:nvSpPr>
          <p:cNvPr id="19" name="Text 14"/>
          <p:cNvSpPr/>
          <p:nvPr/>
        </p:nvSpPr>
        <p:spPr>
          <a:xfrm>
            <a:off x="6312979" y="2610445"/>
            <a:ext cx="2156841" cy="58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90"/>
              </a:lnSpc>
              <a:spcBef>
                <a:spcPts val="680"/>
              </a:spcBef>
              <a:spcAft>
                <a:spcPts val="790"/>
              </a:spcAft>
              <a:buNone/>
            </a:pPr>
            <a:r>
              <a:rPr lang="en-US" sz="146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 (GCP)</a:t>
            </a:r>
            <a:endParaRPr lang="en-US" sz="1460" dirty="0"/>
          </a:p>
        </p:txBody>
      </p:sp>
      <p:sp>
        <p:nvSpPr>
          <p:cNvPr id="20" name="Text 15"/>
          <p:cNvSpPr/>
          <p:nvPr/>
        </p:nvSpPr>
        <p:spPr>
          <a:xfrm>
            <a:off x="6312979" y="3267075"/>
            <a:ext cx="2156841" cy="81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Engineering-first culture: BigQuery, GKE (Kubernetes pioneer), TensorFlow/Vertex AI, Cloud Build. Strong open-source commitment.</a:t>
            </a:r>
            <a:endParaRPr lang="en-US" sz="960" dirty="0"/>
          </a:p>
        </p:txBody>
      </p:sp>
      <p:sp>
        <p:nvSpPr>
          <p:cNvPr id="21" name="Text 16"/>
          <p:cNvSpPr/>
          <p:nvPr/>
        </p:nvSpPr>
        <p:spPr>
          <a:xfrm>
            <a:off x="3202335" y="4737795"/>
            <a:ext cx="301310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Bef>
                <a:spcPts val="1800"/>
              </a:spcBef>
              <a:buNone/>
            </a:pPr>
            <a:r>
              <a:rPr lang="en-US" sz="790" spc="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Cloud infrastructure market share estimates, 2025</a:t>
            </a:r>
            <a:endParaRPr lang="en-US" sz="7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72380"/>
            <a:ext cx="8561070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20" kern="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571500" y="1145381"/>
            <a:ext cx="228600" cy="25146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928241" y="1137791"/>
            <a:ext cx="84086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provides API-driven, elastic infrastructure — engineers focus on software-defined systems instead of hardware management</a:t>
            </a:r>
            <a:endParaRPr lang="en-US" sz="1010" dirty="0"/>
          </a:p>
        </p:txBody>
      </p:sp>
      <p:sp>
        <p:nvSpPr>
          <p:cNvPr id="6" name="Text 4"/>
          <p:cNvSpPr/>
          <p:nvPr/>
        </p:nvSpPr>
        <p:spPr>
          <a:xfrm>
            <a:off x="571500" y="1539032"/>
            <a:ext cx="228600" cy="25146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928241" y="1531441"/>
            <a:ext cx="84086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and SaaS each trade control for managed abstraction — choose based on your team's operational overhead tolerance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571500" y="1932682"/>
            <a:ext cx="228600" cy="25146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928241" y="1925092"/>
            <a:ext cx="84086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 (public, private, hybrid) let teams balance security, compliance, latency, and cost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571500" y="2326332"/>
            <a:ext cx="228600" cy="25146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928241" y="2318742"/>
            <a:ext cx="84086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enablers: Infrastructure as Code, container orchestration, CI/CD pipelines, and observability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571500" y="2719983"/>
            <a:ext cx="228600" cy="251460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928241" y="2712393"/>
            <a:ext cx="84086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adoption means mastering shared responsibility, mitigating vendor lock-in, and investing in cloud-native skills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571500" y="4476155"/>
            <a:ext cx="8161020" cy="324445"/>
          </a:xfrm>
          <a:prstGeom prst="rect">
            <a:avLst/>
          </a:prstGeom>
          <a:noFill/>
          <a:ln/>
        </p:spPr>
        <p:txBody>
          <a:bodyPr wrap="none" lIns="0" tIns="14351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 the platform on which modern engineering teams build, ship, and scale.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" y="4476155"/>
            <a:ext cx="8001000" cy="9525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2026-04-22T00:18:45Z</dcterms:created>
  <dcterms:modified xsi:type="dcterms:W3CDTF">2026-04-22T00:18:45Z</dcterms:modified>
</cp:coreProperties>
</file>